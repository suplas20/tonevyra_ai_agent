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0800"/>
          </a:xfrm>
          <a:prstGeom prst="rect">
            <a:avLst/>
          </a:prstGeom>
          <a:solidFill>
            <a:srgbClr val="10B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B9B0"/>
                </a:solidFill>
                <a:latin typeface="Malgun Gothic"/>
              </a:rPr>
              <a:t>Tonevyra AI · Local Photo Correction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Malgun Gothic"/>
              </a:rPr>
              <a:t>보정 작업 파이프라인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Malgun Gothic"/>
              </a:rPr>
              <a:t>구성요소별 역할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1560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C7D0E8"/>
                </a:solidFill>
                <a:latin typeface="Malgun Gothic"/>
              </a:rPr>
              <a:t>입력 감지 → 분석 → 보정 계획 → Lightroom 적용/내보내기 → 품질 검증 → 학습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C7D0E8"/>
                </a:solidFill>
                <a:latin typeface="Malgun Gothic"/>
              </a:rPr>
              <a:t>각 단계가 무엇을 책임지고, 무엇을 하지 않는지(책임 경계)를 정의합니다.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72"/>
                </a:solidFill>
                <a:latin typeface="Malgun Gothic"/>
              </a:rPr>
              <a:t>2026-06-24 · MVP 기준 (AGENTS.md / T-019·T-020·T-021)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3500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B9B0"/>
                </a:solidFill>
                <a:latin typeface="Malgun Gothic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전체 보정 흐름 — 한 장의 그림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1443837" cy="137160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1443837" cy="76200"/>
          </a:xfrm>
          <a:prstGeom prst="rect">
            <a:avLst/>
          </a:prstGeom>
          <a:solidFill>
            <a:srgbClr val="10B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20"/>
            <a:ext cx="1443837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01B3A"/>
                </a:solidFill>
                <a:latin typeface="Malgun Gothic"/>
              </a:rPr>
              <a:t>① Watcher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04288"/>
            <a:ext cx="1443837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B6372"/>
                </a:solidFill>
                <a:latin typeface="Malgun Gothic"/>
              </a:rPr>
              <a:t>파일 감지·안정화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4189" y="2057400"/>
            <a:ext cx="256032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2E5BFF"/>
                </a:solidFill>
                <a:latin typeface="Malgun Gothic"/>
              </a:rPr>
              <a:t>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57069" y="1645920"/>
            <a:ext cx="1443837" cy="137160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57069" y="1645920"/>
            <a:ext cx="1443837" cy="76200"/>
          </a:xfrm>
          <a:prstGeom prst="rect">
            <a:avLst/>
          </a:prstGeom>
          <a:solidFill>
            <a:srgbClr val="10B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57069" y="1874520"/>
            <a:ext cx="1443837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01B3A"/>
                </a:solidFill>
                <a:latin typeface="Malgun Gothic"/>
              </a:rPr>
              <a:t>② Images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57069" y="2304288"/>
            <a:ext cx="1443837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B6372"/>
                </a:solidFill>
                <a:latin typeface="Malgun Gothic"/>
              </a:rPr>
              <a:t>메타데이터·프리뷰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2619" y="2057400"/>
            <a:ext cx="256032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2E5BFF"/>
                </a:solidFill>
                <a:latin typeface="Malgun Gothic"/>
              </a:rP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65499" y="1645920"/>
            <a:ext cx="1443837" cy="137160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5499" y="1645920"/>
            <a:ext cx="1443837" cy="76200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65499" y="1874520"/>
            <a:ext cx="1443837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01B3A"/>
                </a:solidFill>
                <a:latin typeface="Malgun Gothic"/>
              </a:rPr>
              <a:t>③ Vision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5499" y="2304288"/>
            <a:ext cx="1443837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B6372"/>
                </a:solidFill>
                <a:latin typeface="Malgun Gothic"/>
              </a:rPr>
              <a:t>이미지 분석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91048" y="2057400"/>
            <a:ext cx="256032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2E5BFF"/>
                </a:solidFill>
                <a:latin typeface="Malgun Gothic"/>
              </a:rP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73928" y="1645920"/>
            <a:ext cx="1443837" cy="137160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73928" y="1645920"/>
            <a:ext cx="1443837" cy="76200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73928" y="1874520"/>
            <a:ext cx="1443837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01B3A"/>
                </a:solidFill>
                <a:latin typeface="Malgun Gothic"/>
              </a:rPr>
              <a:t>④ Planner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3928" y="2304288"/>
            <a:ext cx="1443837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B6372"/>
                </a:solidFill>
                <a:latin typeface="Malgun Gothic"/>
              </a:rPr>
              <a:t>보정값 계획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9478" y="2057400"/>
            <a:ext cx="256032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2E5BFF"/>
                </a:solidFill>
                <a:latin typeface="Malgun Gothic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82358" y="1645920"/>
            <a:ext cx="1443837" cy="137160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82358" y="1645920"/>
            <a:ext cx="1443837" cy="762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82358" y="1874520"/>
            <a:ext cx="1443837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01B3A"/>
                </a:solidFill>
                <a:latin typeface="Malgun Gothic"/>
              </a:rPr>
              <a:t>⑤ 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2358" y="2304288"/>
            <a:ext cx="1443837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B6372"/>
                </a:solidFill>
                <a:latin typeface="Malgun Gothic"/>
              </a:rPr>
              <a:t>LR 보정 적용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07907" y="2057400"/>
            <a:ext cx="256032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2E5BFF"/>
                </a:solidFill>
                <a:latin typeface="Malgun Gothic"/>
              </a:rPr>
              <a:t>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90787" y="1645920"/>
            <a:ext cx="1443837" cy="137160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90787" y="1645920"/>
            <a:ext cx="1443837" cy="762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0787" y="1874520"/>
            <a:ext cx="1443837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01B3A"/>
                </a:solidFill>
                <a:latin typeface="Malgun Gothic"/>
              </a:rPr>
              <a:t>⑥ Export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0787" y="2304288"/>
            <a:ext cx="1443837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B6372"/>
                </a:solidFill>
                <a:latin typeface="Malgun Gothic"/>
              </a:rPr>
              <a:t>보정본 내보내기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6337" y="2057400"/>
            <a:ext cx="256032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2E5BFF"/>
                </a:solidFill>
                <a:latin typeface="Malgun Gothic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199217" y="1645920"/>
            <a:ext cx="1443837" cy="137160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99217" y="1645920"/>
            <a:ext cx="1443837" cy="76200"/>
          </a:xfrm>
          <a:prstGeom prst="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99217" y="1874520"/>
            <a:ext cx="1443837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01B3A"/>
                </a:solidFill>
                <a:latin typeface="Malgun Gothic"/>
              </a:rPr>
              <a:t>⑦ Quality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9217" y="2304288"/>
            <a:ext cx="1443837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B6372"/>
                </a:solidFill>
                <a:latin typeface="Malgun Gothic"/>
              </a:rPr>
              <a:t>품질 게이트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383280"/>
            <a:ext cx="11094415" cy="914400"/>
          </a:xfrm>
          <a:prstGeom prst="rect">
            <a:avLst/>
          </a:prstGeom>
          <a:solidFill>
            <a:srgbClr val="10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3493008"/>
            <a:ext cx="10545775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algun Gothic"/>
              </a:rPr>
              <a:t>⟲  Closed-Loop (T-021):  품질 미달 시 → RETRY_REQUIRED → 새 Attempt 생성 → 보정값 재계획 → 재적용/재내보내기 → 재평가  (플랜별 재시도 한도 내)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617720"/>
            <a:ext cx="11094415" cy="1417320"/>
          </a:xfrm>
          <a:prstGeom prst="rect">
            <a:avLst/>
          </a:prstGeom>
          <a:solidFill>
            <a:srgbClr val="EC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475488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01B3A"/>
                </a:solidFill>
                <a:latin typeface="Malgun Gothic"/>
              </a:rPr>
              <a:t>지원(가로지르는) 역할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1206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300" b="1">
                <a:solidFill>
                  <a:srgbClr val="1A2033"/>
                </a:solidFill>
                <a:latin typeface="Malgun Gothic"/>
              </a:rPr>
              <a:t>PostgreSQL</a:t>
            </a:r>
            <a:r>
              <a:rPr sz="1300">
                <a:solidFill>
                  <a:srgbClr val="5B6372"/>
                </a:solidFill>
                <a:latin typeface="Malgun Gothic"/>
              </a:rPr>
              <a:t> — 상태(image_tasks)·이벤트·결과의 단일 진실원천(Single Source of Truth)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300" b="1">
                <a:solidFill>
                  <a:srgbClr val="1A2033"/>
                </a:solidFill>
                <a:latin typeface="Malgun Gothic"/>
              </a:rPr>
              <a:t>Artifact Storage</a:t>
            </a:r>
            <a:r>
              <a:rPr sz="1300">
                <a:solidFill>
                  <a:srgbClr val="5B6372"/>
                </a:solidFill>
                <a:latin typeface="Malgun Gothic"/>
              </a:rPr>
              <a:t> — 원자적 쓰기 + SHA-256 체크섬으로 단계별 산출물 영속화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300" b="1">
                <a:solidFill>
                  <a:srgbClr val="1A2033"/>
                </a:solidFill>
                <a:latin typeface="Malgun Gothic"/>
              </a:rPr>
              <a:t>Recovery</a:t>
            </a:r>
            <a:r>
              <a:rPr sz="1300">
                <a:solidFill>
                  <a:srgbClr val="5B6372"/>
                </a:solidFill>
                <a:latin typeface="Malgun Gothic"/>
              </a:rPr>
              <a:t> — 재시작 시 DB 상태·아티팩트·내보내기 파일로 안전한 단계부터 재개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372"/>
                </a:solidFill>
                <a:latin typeface="Malgun Gothic"/>
              </a:rPr>
              <a:t>Tonevyra AI Agent · 보정 파이프라인 역할 정의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372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3500"/>
          </a:xfrm>
          <a:prstGeom prst="rect">
            <a:avLst/>
          </a:prstGeom>
          <a:solidFill>
            <a:srgbClr val="10B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B9B0"/>
                </a:solidFill>
                <a:latin typeface="Malgun Gothic"/>
              </a:rPr>
              <a:t>STAGE ① · watch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Folder Watcher — 파일 감지와 안정화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6949440" cy="457200"/>
          </a:xfrm>
          <a:prstGeom prst="rect">
            <a:avLst/>
          </a:prstGeom>
          <a:solidFill>
            <a:srgbClr val="10B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67665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이 단계의 역할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6858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500" b="1">
                <a:solidFill>
                  <a:srgbClr val="1A2033"/>
                </a:solidFill>
                <a:latin typeface="Malgun Gothic"/>
              </a:rPr>
              <a:t>입력 폴더 감시</a:t>
            </a:r>
            <a:r>
              <a:rPr sz="1500">
                <a:solidFill>
                  <a:srgbClr val="5B6372"/>
                </a:solidFill>
                <a:latin typeface="Malgun Gothic"/>
              </a:rPr>
              <a:t> — runtime/input 의 신규 사진 파일 탐지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500" b="1">
                <a:solidFill>
                  <a:srgbClr val="1A2033"/>
                </a:solidFill>
                <a:latin typeface="Malgun Gothic"/>
              </a:rPr>
              <a:t>파일 안정화</a:t>
            </a:r>
            <a:r>
              <a:rPr sz="1500">
                <a:solidFill>
                  <a:srgbClr val="5B6372"/>
                </a:solidFill>
                <a:latin typeface="Malgun Gothic"/>
              </a:rPr>
              <a:t> — 복사/다운로드 완료 확인 후에만 처리 진입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500" b="1">
                <a:solidFill>
                  <a:srgbClr val="1A2033"/>
                </a:solidFill>
                <a:latin typeface="Malgun Gothic"/>
              </a:rPr>
              <a:t>작업 등록</a:t>
            </a:r>
            <a:r>
              <a:rPr sz="1500">
                <a:solidFill>
                  <a:srgbClr val="5B6372"/>
                </a:solidFill>
                <a:latin typeface="Malgun Gothic"/>
              </a:rPr>
              <a:t> — PostgreSQL image_tasks 에 태스크 생성(DETECTED)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500" b="1">
                <a:solidFill>
                  <a:srgbClr val="1A2033"/>
                </a:solidFill>
                <a:latin typeface="Malgun Gothic"/>
              </a:rPr>
              <a:t>확장자 필터</a:t>
            </a:r>
            <a:r>
              <a:rPr sz="1500">
                <a:solidFill>
                  <a:srgbClr val="5B6372"/>
                </a:solidFill>
                <a:latin typeface="Malgun Gothic"/>
              </a:rPr>
              <a:t> — .cr3/.nef/.arw/.dng/.jpg 등 지원 포맷만 수용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7726679" y="1371600"/>
            <a:ext cx="3886200" cy="457200"/>
          </a:xfrm>
          <a:prstGeom prst="rect">
            <a:avLst/>
          </a:prstGeom>
          <a:solidFill>
            <a:srgbClr val="E05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39" y="1417320"/>
            <a:ext cx="3657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하지 않는 것 (책임 경계)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1965960"/>
            <a:ext cx="3886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E05353"/>
                </a:solidFill>
                <a:latin typeface="Malgun Gothic"/>
              </a:rPr>
              <a:t>✕ </a:t>
            </a:r>
            <a:r>
              <a:rPr sz="1350">
                <a:solidFill>
                  <a:srgbClr val="1A2033"/>
                </a:solidFill>
                <a:latin typeface="Malgun Gothic"/>
              </a:rPr>
              <a:t>이미지 분석·보정값 계산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E05353"/>
                </a:solidFill>
                <a:latin typeface="Malgun Gothic"/>
              </a:rPr>
              <a:t>✕ </a:t>
            </a:r>
            <a:r>
              <a:rPr sz="1350">
                <a:solidFill>
                  <a:srgbClr val="1A2033"/>
                </a:solidFill>
                <a:latin typeface="Malgun Gothic"/>
              </a:rPr>
              <a:t>임시/숨김 파일(.tmp/.part/.xmp)로 SKIPPED 생성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E05353"/>
                </a:solidFill>
                <a:latin typeface="Malgun Gothic"/>
              </a:rPr>
              <a:t>✕ </a:t>
            </a:r>
            <a:r>
              <a:rPr sz="1350">
                <a:solidFill>
                  <a:srgbClr val="1A2033"/>
                </a:solidFill>
                <a:latin typeface="Malgun Gothic"/>
              </a:rPr>
              <a:t>불안정 파일을 조기에 처리 진입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166360"/>
            <a:ext cx="11064240" cy="96012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5166360"/>
            <a:ext cx="76200" cy="960120"/>
          </a:xfrm>
          <a:prstGeom prst="rect">
            <a:avLst/>
          </a:prstGeom>
          <a:solidFill>
            <a:srgbClr val="10B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257800"/>
            <a:ext cx="530352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2033"/>
                </a:solidFill>
                <a:latin typeface="Malgun Gothic"/>
              </a:rPr>
              <a:t>입력(IN)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2033"/>
                </a:solidFill>
                <a:latin typeface="Malgun Gothic"/>
              </a:rPr>
              <a:t>감시 폴더의 새 파일 이벤트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5257800"/>
            <a:ext cx="530352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2033"/>
                </a:solidFill>
                <a:latin typeface="Malgun Gothic"/>
              </a:rPr>
              <a:t>출력(OUT)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2033"/>
                </a:solidFill>
                <a:latin typeface="Malgun Gothic"/>
              </a:rPr>
              <a:t>DETECTED → STABILIZING → QUEUED 상태의 태스크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64608"/>
            <a:ext cx="10972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5B6372"/>
                </a:solidFill>
                <a:latin typeface="Malgun Gothic"/>
              </a:rPr>
              <a:t>상태/근거: FILE_NOT_STABLE / UNSUPPORTED_FILE_TYPE 에러코드로 분기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372"/>
                </a:solidFill>
                <a:latin typeface="Malgun Gothic"/>
              </a:rPr>
              <a:t>Tonevyra AI Agent · 보정 파이프라인 역할 정의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372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3500"/>
          </a:xfrm>
          <a:prstGeom prst="rect">
            <a:avLst/>
          </a:prstGeom>
          <a:solidFill>
            <a:srgbClr val="10B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B9B0"/>
                </a:solidFill>
                <a:latin typeface="Malgun Gothic"/>
              </a:rPr>
              <a:t>STAGE ② · metadata /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Images — 메타데이터 추출과 프리뷰 생성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6949440" cy="457200"/>
          </a:xfrm>
          <a:prstGeom prst="rect">
            <a:avLst/>
          </a:prstGeom>
          <a:solidFill>
            <a:srgbClr val="10B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67665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이 단계의 역할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6858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500" b="1">
                <a:solidFill>
                  <a:srgbClr val="1A2033"/>
                </a:solidFill>
                <a:latin typeface="Malgun Gothic"/>
              </a:rPr>
              <a:t>EXIF/기본 메타데이터 추출</a:t>
            </a:r>
            <a:r>
              <a:rPr sz="1500">
                <a:solidFill>
                  <a:srgbClr val="5B6372"/>
                </a:solidFill>
                <a:latin typeface="Malgun Gothic"/>
              </a:rPr>
              <a:t> — 카메라·렌즈·촬영정보 수집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500" b="1">
                <a:solidFill>
                  <a:srgbClr val="1A2033"/>
                </a:solidFill>
                <a:latin typeface="Malgun Gothic"/>
              </a:rPr>
              <a:t>프리뷰 생성</a:t>
            </a:r>
            <a:r>
              <a:rPr sz="1500">
                <a:solidFill>
                  <a:srgbClr val="5B6372"/>
                </a:solidFill>
                <a:latin typeface="Malgun Gothic"/>
              </a:rPr>
              <a:t> — 1024px sRGB JPEG — 모델 입력 전용 이미지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500" b="1">
                <a:solidFill>
                  <a:srgbClr val="1A2033"/>
                </a:solidFill>
                <a:latin typeface="Malgun Gothic"/>
              </a:rPr>
              <a:t>원본 보존</a:t>
            </a:r>
            <a:r>
              <a:rPr sz="1500">
                <a:solidFill>
                  <a:srgbClr val="5B6372"/>
                </a:solidFill>
                <a:latin typeface="Malgun Gothic"/>
              </a:rPr>
              <a:t> — RAW 원본은 분석에 직접 투입하지 않음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500" b="1">
                <a:solidFill>
                  <a:srgbClr val="1A2033"/>
                </a:solidFill>
                <a:latin typeface="Malgun Gothic"/>
              </a:rPr>
              <a:t>아티팩트 등록</a:t>
            </a:r>
            <a:r>
              <a:rPr sz="1500">
                <a:solidFill>
                  <a:srgbClr val="5B6372"/>
                </a:solidFill>
                <a:latin typeface="Malgun Gothic"/>
              </a:rPr>
              <a:t> — exif.json / preview.jpg 영속화</a:t>
            </a:r>
          </a:p>
        </p:txBody>
      </p:sp>
      <p:sp>
        <p:nvSpPr>
          <p:cNvPr id="9" name="Rectangle 8"/>
          <p:cNvSpPr/>
          <p:nvPr/>
        </p:nvSpPr>
        <p:spPr>
          <a:xfrm>
            <a:off x="7726679" y="1371600"/>
            <a:ext cx="3886200" cy="457200"/>
          </a:xfrm>
          <a:prstGeom prst="rect">
            <a:avLst/>
          </a:prstGeom>
          <a:solidFill>
            <a:srgbClr val="E05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39" y="1417320"/>
            <a:ext cx="3657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하지 않는 것 (책임 경계)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1965960"/>
            <a:ext cx="3886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E05353"/>
                </a:solidFill>
                <a:latin typeface="Malgun Gothic"/>
              </a:rPr>
              <a:t>✕ </a:t>
            </a:r>
            <a:r>
              <a:rPr sz="1350">
                <a:solidFill>
                  <a:srgbClr val="1A2033"/>
                </a:solidFill>
                <a:latin typeface="Malgun Gothic"/>
              </a:rPr>
              <a:t>원본 RAW를 모델에 직접 전달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E05353"/>
                </a:solidFill>
                <a:latin typeface="Malgun Gothic"/>
              </a:rPr>
              <a:t>✕ </a:t>
            </a:r>
            <a:r>
              <a:rPr sz="1350">
                <a:solidFill>
                  <a:srgbClr val="1A2033"/>
                </a:solidFill>
                <a:latin typeface="Malgun Gothic"/>
              </a:rPr>
              <a:t>외부 URL에서 이미지 로드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E05353"/>
                </a:solidFill>
                <a:latin typeface="Malgun Gothic"/>
              </a:rPr>
              <a:t>✕ </a:t>
            </a:r>
            <a:r>
              <a:rPr sz="1350">
                <a:solidFill>
                  <a:srgbClr val="1A2033"/>
                </a:solidFill>
                <a:latin typeface="Malgun Gothic"/>
              </a:rPr>
              <a:t>보정값 결정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166360"/>
            <a:ext cx="11064240" cy="96012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5166360"/>
            <a:ext cx="76200" cy="960120"/>
          </a:xfrm>
          <a:prstGeom prst="rect">
            <a:avLst/>
          </a:prstGeom>
          <a:solidFill>
            <a:srgbClr val="10B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257800"/>
            <a:ext cx="530352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2033"/>
                </a:solidFill>
                <a:latin typeface="Malgun Gothic"/>
              </a:rPr>
              <a:t>입력(IN)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2033"/>
                </a:solidFill>
                <a:latin typeface="Malgun Gothic"/>
              </a:rPr>
              <a:t>안정화된 원본 파일 경로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5257800"/>
            <a:ext cx="530352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2033"/>
                </a:solidFill>
                <a:latin typeface="Malgun Gothic"/>
              </a:rPr>
              <a:t>출력(OUT)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2033"/>
                </a:solidFill>
                <a:latin typeface="Malgun Gothic"/>
              </a:rPr>
              <a:t>exif.json, preview.jpg (1024px sRGB) 아티팩트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64608"/>
            <a:ext cx="10972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5B6372"/>
                </a:solidFill>
                <a:latin typeface="Malgun Gothic"/>
              </a:rPr>
              <a:t>상태/근거: 원본은 메타데이터·LR 보정대상·내보내기·품질비교에만 사용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372"/>
                </a:solidFill>
                <a:latin typeface="Malgun Gothic"/>
              </a:rPr>
              <a:t>Tonevyra AI Agent · 보정 파이프라인 역할 정의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372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3500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B9B0"/>
                </a:solidFill>
                <a:latin typeface="Malgun Gothic"/>
              </a:rPr>
              <a:t>STAGE ③ ·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Vision Model — 분석자(Analyzer) 역할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6949440" cy="457200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67665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이 단계의 역할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6858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500" b="1">
                <a:solidFill>
                  <a:srgbClr val="1A2033"/>
                </a:solidFill>
                <a:latin typeface="Malgun Gothic"/>
              </a:rPr>
              <a:t>이미지 구조 분석</a:t>
            </a:r>
            <a:r>
              <a:rPr sz="1500">
                <a:solidFill>
                  <a:srgbClr val="5B6372"/>
                </a:solidFill>
                <a:latin typeface="Malgun Gothic"/>
              </a:rPr>
              <a:t> — scene_type / main_subject / usability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500" b="1">
                <a:solidFill>
                  <a:srgbClr val="1A2033"/>
                </a:solidFill>
                <a:latin typeface="Malgun Gothic"/>
              </a:rPr>
              <a:t>문제 진단</a:t>
            </a:r>
            <a:r>
              <a:rPr sz="1500">
                <a:solidFill>
                  <a:srgbClr val="5B6372"/>
                </a:solidFill>
                <a:latin typeface="Malgun Gothic"/>
              </a:rPr>
              <a:t> — 노출·색캐스트·흐림·대비·노이즈·리스크 플래그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500" b="1">
                <a:solidFill>
                  <a:srgbClr val="1A2033"/>
                </a:solidFill>
                <a:latin typeface="Malgun Gothic"/>
              </a:rPr>
              <a:t>신뢰도 산출</a:t>
            </a:r>
            <a:r>
              <a:rPr sz="1500">
                <a:solidFill>
                  <a:srgbClr val="5B6372"/>
                </a:solidFill>
                <a:latin typeface="Malgun Gothic"/>
              </a:rPr>
              <a:t> — confidence 와 함께 정규화된 분석 스키마 출력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500" b="1">
                <a:solidFill>
                  <a:srgbClr val="1A2033"/>
                </a:solidFill>
                <a:latin typeface="Malgun Gothic"/>
              </a:rPr>
              <a:t>로컬 전용 추론</a:t>
            </a:r>
            <a:r>
              <a:rPr sz="1500">
                <a:solidFill>
                  <a:srgbClr val="5B6372"/>
                </a:solidFill>
                <a:latin typeface="Malgun Gothic"/>
              </a:rPr>
              <a:t> — local_files_only, 원격 API·다운로드 금지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7726679" y="1371600"/>
            <a:ext cx="3886200" cy="457200"/>
          </a:xfrm>
          <a:prstGeom prst="rect">
            <a:avLst/>
          </a:prstGeom>
          <a:solidFill>
            <a:srgbClr val="E05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39" y="1417320"/>
            <a:ext cx="3657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하지 않는 것 (책임 경계)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1965960"/>
            <a:ext cx="3886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E05353"/>
                </a:solidFill>
                <a:latin typeface="Malgun Gothic"/>
              </a:rPr>
              <a:t>✕ </a:t>
            </a:r>
            <a:r>
              <a:rPr sz="1350">
                <a:solidFill>
                  <a:srgbClr val="1A2033"/>
                </a:solidFill>
                <a:latin typeface="Malgun Gothic"/>
              </a:rPr>
              <a:t>Lightroom 보정값 직접 생성 (develop_settings)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E05353"/>
                </a:solidFill>
                <a:latin typeface="Malgun Gothic"/>
              </a:rPr>
              <a:t>✕ </a:t>
            </a:r>
            <a:r>
              <a:rPr sz="1350">
                <a:solidFill>
                  <a:srgbClr val="1A2033"/>
                </a:solidFill>
                <a:latin typeface="Malgun Gothic"/>
              </a:rPr>
              <a:t>프리셋 경로·최종 결정(final_decision) 산출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E05353"/>
                </a:solidFill>
                <a:latin typeface="Malgun Gothic"/>
              </a:rPr>
              <a:t>✕ </a:t>
            </a:r>
            <a:r>
              <a:rPr sz="1350">
                <a:solidFill>
                  <a:srgbClr val="1A2033"/>
                </a:solidFill>
                <a:latin typeface="Malgun Gothic"/>
              </a:rPr>
              <a:t>Planner를 우회한 직접 적용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166360"/>
            <a:ext cx="11064240" cy="96012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5166360"/>
            <a:ext cx="76200" cy="960120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257800"/>
            <a:ext cx="530352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2033"/>
                </a:solidFill>
                <a:latin typeface="Malgun Gothic"/>
              </a:rPr>
              <a:t>입력(IN)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2033"/>
                </a:solidFill>
                <a:latin typeface="Malgun Gothic"/>
              </a:rPr>
              <a:t>preview.jpg + 기본 메타데이터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5257800"/>
            <a:ext cx="530352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2033"/>
                </a:solidFill>
                <a:latin typeface="Malgun Gothic"/>
              </a:rPr>
              <a:t>출력(OUT)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2033"/>
                </a:solidFill>
                <a:latin typeface="Malgun Gothic"/>
              </a:rPr>
              <a:t>vision_structured.json (정규화된 분석 결과)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64608"/>
            <a:ext cx="10972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5B6372"/>
                </a:solidFill>
                <a:latin typeface="Malgun Gothic"/>
              </a:rPr>
              <a:t>상태/근거: AGENTS.md §9 — 모델은 분석자이지 최종 편집자가 아님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372"/>
                </a:solidFill>
                <a:latin typeface="Malgun Gothic"/>
              </a:rPr>
              <a:t>Tonevyra AI Agent · 보정 파이프라인 역할 정의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372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3500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B9B0"/>
                </a:solidFill>
                <a:latin typeface="Malgun Gothic"/>
              </a:rPr>
              <a:t>STAGE ④ · correction_plan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Correction Planner — 보정 계획 수립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6949440" cy="457200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67665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이 단계의 역할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6858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500" b="1">
                <a:solidFill>
                  <a:srgbClr val="1A2033"/>
                </a:solidFill>
                <a:latin typeface="Malgun Gothic"/>
              </a:rPr>
              <a:t>분석 → 보정값 변환</a:t>
            </a:r>
            <a:r>
              <a:rPr sz="1500">
                <a:solidFill>
                  <a:srgbClr val="5B6372"/>
                </a:solidFill>
                <a:latin typeface="Malgun Gothic"/>
              </a:rPr>
              <a:t> — 분석 결과를 Lightroom 조정값으로 매핑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500" b="1">
                <a:solidFill>
                  <a:srgbClr val="1A2033"/>
                </a:solidFill>
                <a:latin typeface="Malgun Gothic"/>
              </a:rPr>
              <a:t>안전 클램프</a:t>
            </a:r>
            <a:r>
              <a:rPr sz="1500">
                <a:solidFill>
                  <a:srgbClr val="5B6372"/>
                </a:solidFill>
                <a:latin typeface="Malgun Gothic"/>
              </a:rPr>
              <a:t> — 허용 범위 내로 값 제한(bounded values)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500" b="1">
                <a:solidFill>
                  <a:srgbClr val="1A2033"/>
                </a:solidFill>
                <a:latin typeface="Malgun Gothic"/>
              </a:rPr>
              <a:t>리뷰 플래그</a:t>
            </a:r>
            <a:r>
              <a:rPr sz="1500">
                <a:solidFill>
                  <a:srgbClr val="5B6372"/>
                </a:solidFill>
                <a:latin typeface="Malgun Gothic"/>
              </a:rPr>
              <a:t> — 과도 보정 시 requires_review 표시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500" b="1">
                <a:solidFill>
                  <a:srgbClr val="1A2033"/>
                </a:solidFill>
                <a:latin typeface="Malgun Gothic"/>
              </a:rPr>
              <a:t>유일한 보정값 생성자</a:t>
            </a:r>
            <a:r>
              <a:rPr sz="1500">
                <a:solidFill>
                  <a:srgbClr val="5B6372"/>
                </a:solidFill>
                <a:latin typeface="Malgun Gothic"/>
              </a:rPr>
              <a:t> — 최종 LR 조정값을 만드는 단 하나의 컴포넌트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7726679" y="1371600"/>
            <a:ext cx="3886200" cy="457200"/>
          </a:xfrm>
          <a:prstGeom prst="rect">
            <a:avLst/>
          </a:prstGeom>
          <a:solidFill>
            <a:srgbClr val="E05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39" y="1417320"/>
            <a:ext cx="3657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하지 않는 것 (책임 경계)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1965960"/>
            <a:ext cx="3886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E05353"/>
                </a:solidFill>
                <a:latin typeface="Malgun Gothic"/>
              </a:rPr>
              <a:t>✕ </a:t>
            </a:r>
            <a:r>
              <a:rPr sz="1350">
                <a:solidFill>
                  <a:srgbClr val="1A2033"/>
                </a:solidFill>
                <a:latin typeface="Malgun Gothic"/>
              </a:rPr>
              <a:t>모델을 직접 로드/호출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E05353"/>
                </a:solidFill>
                <a:latin typeface="Malgun Gothic"/>
              </a:rPr>
              <a:t>✕ </a:t>
            </a:r>
            <a:r>
              <a:rPr sz="1350">
                <a:solidFill>
                  <a:srgbClr val="1A2033"/>
                </a:solidFill>
                <a:latin typeface="Malgun Gothic"/>
              </a:rPr>
              <a:t>Lightroom에 직접 적용 요청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E05353"/>
                </a:solidFill>
                <a:latin typeface="Malgun Gothic"/>
              </a:rPr>
              <a:t>✕ </a:t>
            </a:r>
            <a:r>
              <a:rPr sz="1350">
                <a:solidFill>
                  <a:srgbClr val="1A2033"/>
                </a:solidFill>
                <a:latin typeface="Malgun Gothic"/>
              </a:rPr>
              <a:t>범위를 벗어난(unclamped) 값 출력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166360"/>
            <a:ext cx="11064240" cy="96012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5166360"/>
            <a:ext cx="76200" cy="960120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257800"/>
            <a:ext cx="530352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2033"/>
                </a:solidFill>
                <a:latin typeface="Malgun Gothic"/>
              </a:rPr>
              <a:t>입력(IN)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2033"/>
                </a:solidFill>
                <a:latin typeface="Malgun Gothic"/>
              </a:rPr>
              <a:t>vision_structured.json (정규화 분석)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5257800"/>
            <a:ext cx="530352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2033"/>
                </a:solidFill>
                <a:latin typeface="Malgun Gothic"/>
              </a:rPr>
              <a:t>출력(OUT)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2033"/>
                </a:solidFill>
                <a:latin typeface="Malgun Gothic"/>
              </a:rPr>
              <a:t>correction_plan.json (클램프된 LR 조정 계획)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64608"/>
            <a:ext cx="10972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5B6372"/>
                </a:solidFill>
                <a:latin typeface="Malgun Gothic"/>
              </a:rPr>
              <a:t>상태/근거: T-021 §32.1 — Adjustment Planner만 최종 보정값 생성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372"/>
                </a:solidFill>
                <a:latin typeface="Malgun Gothic"/>
              </a:rPr>
              <a:t>Tonevyra AI Agent · 보정 파이프라인 역할 정의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372"/>
                </a:solidFill>
                <a:latin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35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B9B0"/>
                </a:solidFill>
                <a:latin typeface="Malgun Gothic"/>
              </a:rPr>
              <a:t>STAGE ⑤ · lightroom (T-019)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Lightroom Apply Adapter — 보정값 적용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6949440" cy="4572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67665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이 단계의 역할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6858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500" b="1">
                <a:solidFill>
                  <a:srgbClr val="1A2033"/>
                </a:solidFill>
                <a:latin typeface="Malgun Gothic"/>
              </a:rPr>
              <a:t>보정 요청 작성</a:t>
            </a:r>
            <a:r>
              <a:rPr sz="1500">
                <a:solidFill>
                  <a:srgbClr val="5B6372"/>
                </a:solidFill>
                <a:latin typeface="Malgun Gothic"/>
              </a:rPr>
              <a:t> — lightroom_request.json 을 bridge로 전달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500" b="1">
                <a:solidFill>
                  <a:srgbClr val="1A2033"/>
                </a:solidFill>
                <a:latin typeface="Malgun Gothic"/>
              </a:rPr>
              <a:t>플러그인 적용</a:t>
            </a:r>
            <a:r>
              <a:rPr sz="1500">
                <a:solidFill>
                  <a:srgbClr val="5B6372"/>
                </a:solidFill>
                <a:latin typeface="Malgun Gothic"/>
              </a:rPr>
              <a:t> — Lightroom Classic이 Develop 설정 적용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500" b="1">
                <a:solidFill>
                  <a:srgbClr val="1A2033"/>
                </a:solidFill>
                <a:latin typeface="Malgun Gothic"/>
              </a:rPr>
              <a:t>적용 검증</a:t>
            </a:r>
            <a:r>
              <a:rPr sz="1500">
                <a:solidFill>
                  <a:srgbClr val="5B6372"/>
                </a:solidFill>
                <a:latin typeface="Malgun Gothic"/>
              </a:rPr>
              <a:t> — status=applied 결과 확인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500" b="1">
                <a:solidFill>
                  <a:srgbClr val="1A2033"/>
                </a:solidFill>
                <a:latin typeface="Malgun Gothic"/>
              </a:rPr>
              <a:t>파일 기반 JSON 브리지</a:t>
            </a:r>
            <a:r>
              <a:rPr sz="1500">
                <a:solidFill>
                  <a:srgbClr val="5B6372"/>
                </a:solidFill>
                <a:latin typeface="Malgun Gothic"/>
              </a:rPr>
              <a:t> — requests → processing → responses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26679" y="1371600"/>
            <a:ext cx="3886200" cy="457200"/>
          </a:xfrm>
          <a:prstGeom prst="rect">
            <a:avLst/>
          </a:prstGeom>
          <a:solidFill>
            <a:srgbClr val="E05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39" y="1417320"/>
            <a:ext cx="3657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하지 않는 것 (책임 경계)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1965960"/>
            <a:ext cx="3886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E05353"/>
                </a:solidFill>
                <a:latin typeface="Malgun Gothic"/>
              </a:rPr>
              <a:t>✕ </a:t>
            </a:r>
            <a:r>
              <a:rPr sz="1350">
                <a:solidFill>
                  <a:srgbClr val="1A2033"/>
                </a:solidFill>
                <a:latin typeface="Malgun Gothic"/>
              </a:rPr>
              <a:t>AI 모델 실행·품질 점수 계산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E05353"/>
                </a:solidFill>
                <a:latin typeface="Malgun Gothic"/>
              </a:rPr>
              <a:t>✕ </a:t>
            </a:r>
            <a:r>
              <a:rPr sz="1350">
                <a:solidFill>
                  <a:srgbClr val="1A2033"/>
                </a:solidFill>
                <a:latin typeface="Malgun Gothic"/>
              </a:rPr>
              <a:t>PostgreSQL 직접 접근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E05353"/>
                </a:solidFill>
                <a:latin typeface="Malgun Gothic"/>
              </a:rPr>
              <a:t>✕ </a:t>
            </a:r>
            <a:r>
              <a:rPr sz="1350">
                <a:solidFill>
                  <a:srgbClr val="1A2033"/>
                </a:solidFill>
                <a:latin typeface="Malgun Gothic"/>
              </a:rPr>
              <a:t>재시도/최종 결정 판단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166360"/>
            <a:ext cx="11064240" cy="96012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5166360"/>
            <a:ext cx="76200" cy="9601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257800"/>
            <a:ext cx="530352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2033"/>
                </a:solidFill>
                <a:latin typeface="Malgun Gothic"/>
              </a:rPr>
              <a:t>입력(IN)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2033"/>
                </a:solidFill>
                <a:latin typeface="Malgun Gothic"/>
              </a:rPr>
              <a:t>correction_plan.json (절대경로 source/target)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5257800"/>
            <a:ext cx="530352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2033"/>
                </a:solidFill>
                <a:latin typeface="Malgun Gothic"/>
              </a:rPr>
              <a:t>출력(OUT)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2033"/>
                </a:solidFill>
                <a:latin typeface="Malgun Gothic"/>
              </a:rPr>
              <a:t>lightroom_response.json (status=applied)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64608"/>
            <a:ext cx="10972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5B6372"/>
                </a:solidFill>
                <a:latin typeface="Malgun Gothic"/>
              </a:rPr>
              <a:t>상태/근거: AGENTS.md §18 — 플러그인은 기술적 실행 어댑터만 담당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372"/>
                </a:solidFill>
                <a:latin typeface="Malgun Gothic"/>
              </a:rPr>
              <a:t>Tonevyra AI Agent · 보정 파이프라인 역할 정의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372"/>
                </a:solidFill>
                <a:latin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35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B9B0"/>
                </a:solidFill>
                <a:latin typeface="Malgun Gothic"/>
              </a:rPr>
              <a:t>STAGE ⑥ · export (T-020)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Lightroom Export Adapter — 보정본 내보내기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6949440" cy="4572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67665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이 단계의 역할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6858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500" b="1">
                <a:solidFill>
                  <a:srgbClr val="1A2033"/>
                </a:solidFill>
                <a:latin typeface="Malgun Gothic"/>
              </a:rPr>
              <a:t>내보내기 요청</a:t>
            </a:r>
            <a:r>
              <a:rPr sz="1500">
                <a:solidFill>
                  <a:srgbClr val="5B6372"/>
                </a:solidFill>
                <a:latin typeface="Malgun Gothic"/>
              </a:rPr>
              <a:t> — 검증된 apply 결과 이후에만 생성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500" b="1">
                <a:solidFill>
                  <a:srgbClr val="1A2033"/>
                </a:solidFill>
                <a:latin typeface="Malgun Gothic"/>
              </a:rPr>
              <a:t>자동 내보내기</a:t>
            </a:r>
            <a:r>
              <a:rPr sz="1500">
                <a:solidFill>
                  <a:srgbClr val="5B6372"/>
                </a:solidFill>
                <a:latin typeface="Malgun Gothic"/>
              </a:rPr>
              <a:t> — JPEG q95, sRGB, 리사이즈/원본덮어쓰기 없음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500" b="1">
                <a:solidFill>
                  <a:srgbClr val="1A2033"/>
                </a:solidFill>
                <a:latin typeface="Malgun Gothic"/>
              </a:rPr>
              <a:t>파일 검증</a:t>
            </a:r>
            <a:r>
              <a:rPr sz="1500">
                <a:solidFill>
                  <a:srgbClr val="5B6372"/>
                </a:solidFill>
                <a:latin typeface="Malgun Gothic"/>
              </a:rPr>
              <a:t> — 출력파일 존재·크기&gt;0·경로상이 확인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500" b="1">
                <a:solidFill>
                  <a:srgbClr val="1A2033"/>
                </a:solidFill>
                <a:latin typeface="Malgun Gothic"/>
              </a:rPr>
              <a:t>증거 기반 완료</a:t>
            </a:r>
            <a:r>
              <a:rPr sz="1500">
                <a:solidFill>
                  <a:srgbClr val="5B6372"/>
                </a:solidFill>
                <a:latin typeface="Malgun Gothic"/>
              </a:rPr>
              <a:t> — 결과+파일+체크섬+DB 후 EXPORT_DONE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26679" y="1371600"/>
            <a:ext cx="3886200" cy="457200"/>
          </a:xfrm>
          <a:prstGeom prst="rect">
            <a:avLst/>
          </a:prstGeom>
          <a:solidFill>
            <a:srgbClr val="E05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39" y="1417320"/>
            <a:ext cx="3657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하지 않는 것 (책임 경계)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1965960"/>
            <a:ext cx="3886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E05353"/>
                </a:solidFill>
                <a:latin typeface="Malgun Gothic"/>
              </a:rPr>
              <a:t>✕ </a:t>
            </a:r>
            <a:r>
              <a:rPr sz="1350">
                <a:solidFill>
                  <a:srgbClr val="1A2033"/>
                </a:solidFill>
                <a:latin typeface="Malgun Gothic"/>
              </a:rPr>
              <a:t>status=exported JSON만으로 성공 처리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E05353"/>
                </a:solidFill>
                <a:latin typeface="Malgun Gothic"/>
              </a:rPr>
              <a:t>✕ </a:t>
            </a:r>
            <a:r>
              <a:rPr sz="1350">
                <a:solidFill>
                  <a:srgbClr val="1A2033"/>
                </a:solidFill>
                <a:latin typeface="Malgun Gothic"/>
              </a:rPr>
              <a:t>원본 경로 덮어쓰기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E05353"/>
                </a:solidFill>
                <a:latin typeface="Malgun Gothic"/>
              </a:rPr>
              <a:t>✕ </a:t>
            </a:r>
            <a:r>
              <a:rPr sz="1350">
                <a:solidFill>
                  <a:srgbClr val="1A2033"/>
                </a:solidFill>
                <a:latin typeface="Malgun Gothic"/>
              </a:rPr>
              <a:t>품질 점수 산정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166360"/>
            <a:ext cx="11064240" cy="96012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5166360"/>
            <a:ext cx="76200" cy="9601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257800"/>
            <a:ext cx="530352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2033"/>
                </a:solidFill>
                <a:latin typeface="Malgun Gothic"/>
              </a:rPr>
              <a:t>입력(IN)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2033"/>
                </a:solidFill>
                <a:latin typeface="Malgun Gothic"/>
              </a:rPr>
              <a:t>검증된 apply 결과 + export 요청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5257800"/>
            <a:ext cx="530352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2033"/>
                </a:solidFill>
                <a:latin typeface="Malgun Gothic"/>
              </a:rPr>
              <a:t>출력(OUT)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2033"/>
                </a:solidFill>
                <a:latin typeface="Malgun Gothic"/>
              </a:rPr>
              <a:t>보정본 파일(output/temp) + lightroom_export_result.json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64608"/>
            <a:ext cx="10972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5B6372"/>
                </a:solidFill>
                <a:latin typeface="Malgun Gothic"/>
              </a:rPr>
              <a:t>상태/근거: T-020 §31 — 실제 출력파일 검증 전 EXPORT_DONE 금지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372"/>
                </a:solidFill>
                <a:latin typeface="Malgun Gothic"/>
              </a:rPr>
              <a:t>Tonevyra AI Agent · 보정 파이프라인 역할 정의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372"/>
                </a:solidFill>
                <a:latin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3500"/>
          </a:xfrm>
          <a:prstGeom prst="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B9B0"/>
                </a:solidFill>
                <a:latin typeface="Malgun Gothic"/>
              </a:rPr>
              <a:t>STAGE ⑦ ·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Quality Gate — 품질 게이트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6949440" cy="457200"/>
          </a:xfrm>
          <a:prstGeom prst="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67665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이 단계의 역할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6858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500" b="1">
                <a:solidFill>
                  <a:srgbClr val="1A2033"/>
                </a:solidFill>
                <a:latin typeface="Malgun Gothic"/>
              </a:rPr>
              <a:t>내보내기 결과 평가</a:t>
            </a:r>
            <a:r>
              <a:rPr sz="1500">
                <a:solidFill>
                  <a:srgbClr val="5B6372"/>
                </a:solidFill>
                <a:latin typeface="Malgun Gothic"/>
              </a:rPr>
              <a:t> — 노출·색·선명도·노이즈·채도·수중캐스트 점수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500" b="1">
                <a:solidFill>
                  <a:srgbClr val="1A2033"/>
                </a:solidFill>
                <a:latin typeface="Malgun Gothic"/>
              </a:rPr>
              <a:t>종합 판정</a:t>
            </a:r>
            <a:r>
              <a:rPr sz="1500">
                <a:solidFill>
                  <a:srgbClr val="5B6372"/>
                </a:solidFill>
                <a:latin typeface="Malgun Gothic"/>
              </a:rPr>
              <a:t> — overall_score 기반 PASS/REVIEW/FAILED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500" b="1">
                <a:solidFill>
                  <a:srgbClr val="1A2033"/>
                </a:solidFill>
                <a:latin typeface="Malgun Gothic"/>
              </a:rPr>
              <a:t>강제 분기</a:t>
            </a:r>
            <a:r>
              <a:rPr sz="1500">
                <a:solidFill>
                  <a:srgbClr val="5B6372"/>
                </a:solidFill>
                <a:latin typeface="Malgun Gothic"/>
              </a:rPr>
              <a:t> — requires_review·심한 클램프·내보내기 실패 시 상향 분기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500" b="1">
                <a:solidFill>
                  <a:srgbClr val="1A2033"/>
                </a:solidFill>
                <a:latin typeface="Malgun Gothic"/>
              </a:rPr>
              <a:t>결과 영속화</a:t>
            </a:r>
            <a:r>
              <a:rPr sz="1500">
                <a:solidFill>
                  <a:srgbClr val="5B6372"/>
                </a:solidFill>
                <a:latin typeface="Malgun Gothic"/>
              </a:rPr>
              <a:t> — quality_results 테이블에 기록</a:t>
            </a:r>
          </a:p>
        </p:txBody>
      </p:sp>
      <p:sp>
        <p:nvSpPr>
          <p:cNvPr id="9" name="Rectangle 8"/>
          <p:cNvSpPr/>
          <p:nvPr/>
        </p:nvSpPr>
        <p:spPr>
          <a:xfrm>
            <a:off x="7726679" y="1371600"/>
            <a:ext cx="3886200" cy="457200"/>
          </a:xfrm>
          <a:prstGeom prst="rect">
            <a:avLst/>
          </a:prstGeom>
          <a:solidFill>
            <a:srgbClr val="E05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39" y="1417320"/>
            <a:ext cx="3657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하지 않는 것 (책임 경계)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1965960"/>
            <a:ext cx="3886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E05353"/>
                </a:solidFill>
                <a:latin typeface="Malgun Gothic"/>
              </a:rPr>
              <a:t>✕ </a:t>
            </a:r>
            <a:r>
              <a:rPr sz="1350">
                <a:solidFill>
                  <a:srgbClr val="1A2033"/>
                </a:solidFill>
                <a:latin typeface="Malgun Gothic"/>
              </a:rPr>
              <a:t>보정값을 다시 변경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E05353"/>
                </a:solidFill>
                <a:latin typeface="Malgun Gothic"/>
              </a:rPr>
              <a:t>✕ </a:t>
            </a:r>
            <a:r>
              <a:rPr sz="1350">
                <a:solidFill>
                  <a:srgbClr val="1A2033"/>
                </a:solidFill>
                <a:latin typeface="Malgun Gothic"/>
              </a:rPr>
              <a:t>Lightroom에 재요청 직접 수행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E05353"/>
                </a:solidFill>
                <a:latin typeface="Malgun Gothic"/>
              </a:rPr>
              <a:t>✕ </a:t>
            </a:r>
            <a:r>
              <a:rPr sz="1350">
                <a:solidFill>
                  <a:srgbClr val="1A2033"/>
                </a:solidFill>
                <a:latin typeface="Malgun Gothic"/>
              </a:rPr>
              <a:t>품질 근거 없이 PASS 판정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166360"/>
            <a:ext cx="11064240" cy="96012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5166360"/>
            <a:ext cx="76200" cy="960120"/>
          </a:xfrm>
          <a:prstGeom prst="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257800"/>
            <a:ext cx="530352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2033"/>
                </a:solidFill>
                <a:latin typeface="Malgun Gothic"/>
              </a:rPr>
              <a:t>입력(IN)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2033"/>
                </a:solidFill>
                <a:latin typeface="Malgun Gothic"/>
              </a:rPr>
              <a:t>검증된 보정본 출력파일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5257800"/>
            <a:ext cx="530352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2033"/>
                </a:solidFill>
                <a:latin typeface="Malgun Gothic"/>
              </a:rPr>
              <a:t>출력(OUT)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2033"/>
                </a:solidFill>
                <a:latin typeface="Malgun Gothic"/>
              </a:rPr>
              <a:t>quality_detail.json + decision(PASS/REVIEW_REQUIRED/FAILED)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64608"/>
            <a:ext cx="10972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5B6372"/>
                </a:solidFill>
                <a:latin typeface="Malgun Gothic"/>
              </a:rPr>
              <a:t>상태/근거: 임계값 PASS≥85 / REVIEW 70–84 / FAILED&lt;70 (설정가능)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372"/>
                </a:solidFill>
                <a:latin typeface="Malgun Gothic"/>
              </a:rPr>
              <a:t>Tonevyra AI Agent · 보정 파이프라인 역할 정의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372"/>
                </a:solidFill>
                <a:latin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3500"/>
          </a:xfrm>
          <a:prstGeom prst="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B9B0"/>
                </a:solidFill>
                <a:latin typeface="Malgun Gothic"/>
              </a:rPr>
              <a:t>STAGE ⟲ · T-021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Closed-Loop — 재시도 컨트롤러와 상태 관리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1064240" cy="411480"/>
          </a:xfrm>
          <a:prstGeom prst="rect">
            <a:avLst/>
          </a:prstGeom>
          <a:solidFill>
            <a:srgbClr val="10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algun Gothic"/>
              </a:rPr>
              <a:t>EVALUATING → RETRY_REQUIRED → ADJUSTMENT_READY → LIGHTROOM_PROCESSING → EXPORTED → EVALUATING  (플랜별 한도 내 반복)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5440680" cy="123444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76200" cy="1234440"/>
          </a:xfrm>
          <a:prstGeom prst="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75688"/>
            <a:ext cx="51663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01B3A"/>
                </a:solidFill>
                <a:latin typeface="Malgun Gothic"/>
              </a:rPr>
              <a:t>Retry Controller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516636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B6372"/>
                </a:solidFill>
                <a:latin typeface="Malgun Gothic"/>
              </a:rPr>
              <a:t>재시도 예산·진척(progress) 검사 소유. 한도 초과 시 FINAL_FAILED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965960"/>
            <a:ext cx="5440680" cy="123444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65960"/>
            <a:ext cx="76200" cy="1234440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075688"/>
            <a:ext cx="51663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01B3A"/>
                </a:solidFill>
                <a:latin typeface="Malgun Gothic"/>
              </a:rPr>
              <a:t>State 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468880"/>
            <a:ext cx="516636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B6372"/>
                </a:solidFill>
                <a:latin typeface="Malgun Gothic"/>
              </a:rPr>
              <a:t>합법적 상태 전이만 허용. 단계 건너뛰기 차단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29000"/>
            <a:ext cx="5440680" cy="123444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429000"/>
            <a:ext cx="76200" cy="12344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538728"/>
            <a:ext cx="51663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01B3A"/>
                </a:solidFill>
                <a:latin typeface="Malgun Gothic"/>
              </a:rPr>
              <a:t>Attempt 정책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31920"/>
            <a:ext cx="516636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B6372"/>
                </a:solidFill>
                <a:latin typeface="Malgun Gothic"/>
              </a:rPr>
              <a:t>재시도마다 새 attempt_id·새 요청ID, 이전 아티팩트 불변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429000"/>
            <a:ext cx="5440680" cy="123444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429000"/>
            <a:ext cx="76200" cy="1234440"/>
          </a:xfrm>
          <a:prstGeom prst="rect">
            <a:avLst/>
          </a:prstGeom>
          <a:solidFill>
            <a:srgbClr val="10B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538728"/>
            <a:ext cx="51663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01B3A"/>
                </a:solidFill>
                <a:latin typeface="Malgun Gothic"/>
              </a:rPr>
              <a:t>SaaS Plan 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16636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B6372"/>
                </a:solidFill>
                <a:latin typeface="Malgun Gothic"/>
              </a:rPr>
              <a:t>Provider 선택·재시도 한도 결정 (free=1 … pro=3)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029200"/>
            <a:ext cx="11064240" cy="1051560"/>
          </a:xfrm>
          <a:prstGeom prst="rect">
            <a:avLst/>
          </a:prstGeom>
          <a:solidFill>
            <a:srgbClr val="EC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120640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1B3A"/>
                </a:solidFill>
                <a:latin typeface="Malgun Gothic"/>
              </a:rPr>
              <a:t>종료 분류 (Terminal)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486400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B8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504688"/>
            <a:ext cx="265176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EB872"/>
                </a:solidFill>
                <a:latin typeface="Malgun Gothic"/>
              </a:rPr>
              <a:t>APPROVED  ·  기술·품질 통과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20440" y="5486400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5504688"/>
            <a:ext cx="265176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5A623"/>
                </a:solidFill>
                <a:latin typeface="Malgun Gothic"/>
              </a:rPr>
              <a:t>SOURCE_LIMITED  ·  원본 한계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5486400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5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5504688"/>
            <a:ext cx="265176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05353"/>
                </a:solidFill>
                <a:latin typeface="Malgun Gothic"/>
              </a:rPr>
              <a:t>TECHNICAL_FAILED  ·  기술 오류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06840" y="5486400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5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06840" y="5504688"/>
            <a:ext cx="265176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05353"/>
                </a:solidFill>
                <a:latin typeface="Malgun Gothic"/>
              </a:rPr>
              <a:t>FINAL_FAILED  ·  예산 소진/정지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372"/>
                </a:solidFill>
                <a:latin typeface="Malgun Gothic"/>
              </a:rPr>
              <a:t>Tonevyra AI Agent · 보정 파이프라인 역할 정의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372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3500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B9B0"/>
                </a:solidFill>
                <a:latin typeface="Malgun Gothic"/>
              </a:rPr>
              <a:t>STAGE · feedback /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Learning &amp; Feedback — 로컬 학습 데이터 수집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6949440" cy="457200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67665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이 단계의 역할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6858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500" b="1">
                <a:solidFill>
                  <a:srgbClr val="1A2033"/>
                </a:solidFill>
                <a:latin typeface="Malgun Gothic"/>
              </a:rPr>
              <a:t>피드백 기록</a:t>
            </a:r>
            <a:r>
              <a:rPr sz="1500">
                <a:solidFill>
                  <a:srgbClr val="5B6372"/>
                </a:solidFill>
                <a:latin typeface="Malgun Gothic"/>
              </a:rPr>
              <a:t> — user_action·rating·reason_tags 영속화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500" b="1">
                <a:solidFill>
                  <a:srgbClr val="1A2033"/>
                </a:solidFill>
                <a:latin typeface="Malgun Gothic"/>
              </a:rPr>
              <a:t>수동편집 델타</a:t>
            </a:r>
            <a:r>
              <a:rPr sz="1500">
                <a:solidFill>
                  <a:srgbClr val="5B6372"/>
                </a:solidFill>
                <a:latin typeface="Malgun Gothic"/>
              </a:rPr>
              <a:t> — AI 적용값 vs 사용자 최종값 비교 캡처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500" b="1">
                <a:solidFill>
                  <a:srgbClr val="1A2033"/>
                </a:solidFill>
                <a:latin typeface="Malgun Gothic"/>
              </a:rPr>
              <a:t>학습 후보 등록</a:t>
            </a:r>
            <a:r>
              <a:rPr sz="1500">
                <a:solidFill>
                  <a:srgbClr val="5B6372"/>
                </a:solidFill>
                <a:latin typeface="Malgun Gothic"/>
              </a:rPr>
              <a:t> — learning_samples 후보 레코드 생성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500" b="1">
                <a:solidFill>
                  <a:srgbClr val="1A2033"/>
                </a:solidFill>
                <a:latin typeface="Malgun Gothic"/>
              </a:rPr>
              <a:t>Planner 보정 준비</a:t>
            </a:r>
            <a:r>
              <a:rPr sz="1500">
                <a:solidFill>
                  <a:srgbClr val="5B6372"/>
                </a:solidFill>
                <a:latin typeface="Malgun Gothic"/>
              </a:rPr>
              <a:t> — 추후 오프라인·옵트인 캘리브레이션 대상</a:t>
            </a:r>
          </a:p>
        </p:txBody>
      </p:sp>
      <p:sp>
        <p:nvSpPr>
          <p:cNvPr id="9" name="Rectangle 8"/>
          <p:cNvSpPr/>
          <p:nvPr/>
        </p:nvSpPr>
        <p:spPr>
          <a:xfrm>
            <a:off x="7726679" y="1371600"/>
            <a:ext cx="3886200" cy="457200"/>
          </a:xfrm>
          <a:prstGeom prst="rect">
            <a:avLst/>
          </a:prstGeom>
          <a:solidFill>
            <a:srgbClr val="E05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39" y="1417320"/>
            <a:ext cx="3657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하지 않는 것 (책임 경계)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1965960"/>
            <a:ext cx="3886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E05353"/>
                </a:solidFill>
                <a:latin typeface="Malgun Gothic"/>
              </a:rPr>
              <a:t>✕ </a:t>
            </a:r>
            <a:r>
              <a:rPr sz="1350">
                <a:solidFill>
                  <a:srgbClr val="1A2033"/>
                </a:solidFill>
                <a:latin typeface="Malgun Gothic"/>
              </a:rPr>
              <a:t>정상 처리 중 모델 파인튜닝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E05353"/>
                </a:solidFill>
                <a:latin typeface="Malgun Gothic"/>
              </a:rPr>
              <a:t>✕ </a:t>
            </a:r>
            <a:r>
              <a:rPr sz="1350">
                <a:solidFill>
                  <a:srgbClr val="1A2033"/>
                </a:solidFill>
                <a:latin typeface="Malgun Gothic"/>
              </a:rPr>
              <a:t>외부 학습 서비스로 데이터 전송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E05353"/>
                </a:solidFill>
                <a:latin typeface="Malgun Gothic"/>
              </a:rPr>
              <a:t>✕ </a:t>
            </a:r>
            <a:r>
              <a:rPr sz="1350">
                <a:solidFill>
                  <a:srgbClr val="1A2033"/>
                </a:solidFill>
                <a:latin typeface="Malgun Gothic"/>
              </a:rPr>
              <a:t>사용자 데이터 외부 반출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166360"/>
            <a:ext cx="11064240" cy="96012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5166360"/>
            <a:ext cx="76200" cy="960120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257800"/>
            <a:ext cx="530352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2033"/>
                </a:solidFill>
                <a:latin typeface="Malgun Gothic"/>
              </a:rPr>
              <a:t>입력(IN)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2033"/>
                </a:solidFill>
                <a:latin typeface="Malgun Gothic"/>
              </a:rPr>
              <a:t>ai_settings / final_settings / quality_results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5257800"/>
            <a:ext cx="530352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2033"/>
                </a:solidFill>
                <a:latin typeface="Malgun Gothic"/>
              </a:rPr>
              <a:t>출력(OUT)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2033"/>
                </a:solidFill>
                <a:latin typeface="Malgun Gothic"/>
              </a:rPr>
              <a:t>feedback_record.json, learning_samples 후보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64608"/>
            <a:ext cx="10972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5B6372"/>
                </a:solidFill>
                <a:latin typeface="Malgun Gothic"/>
              </a:rPr>
              <a:t>상태/근거: AGENTS.md §22 — MVP는 데이터 수집까지만, 학습은 오프라인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372"/>
                </a:solidFill>
                <a:latin typeface="Malgun Gothic"/>
              </a:rPr>
              <a:t>Tonevyra AI Agent · 보정 파이프라인 역할 정의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372"/>
                </a:solidFill>
                <a:latin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3500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B9B0"/>
                </a:solidFill>
                <a:latin typeface="Malgun Gothic"/>
              </a:rPr>
              <a:t>CROSS-CUTTING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지원 역할 — 데이터·아티팩트·복구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611880" cy="420624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611880" cy="548640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333756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PostgreSQL (db/)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3246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300">
                <a:solidFill>
                  <a:srgbClr val="1A2033"/>
                </a:solidFill>
                <a:latin typeface="Malgun Gothic"/>
              </a:rPr>
              <a:t>image_tasks = 상태·현재단계의 단일 진실원천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300">
                <a:solidFill>
                  <a:srgbClr val="1A2033"/>
                </a:solidFill>
                <a:latin typeface="Malgun Gothic"/>
              </a:rPr>
              <a:t>task_events = 상태전이·루프·복구·리뷰 이벤트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300">
                <a:solidFill>
                  <a:srgbClr val="1A2033"/>
                </a:solidFill>
                <a:latin typeface="Malgun Gothic"/>
              </a:rPr>
              <a:t>stage_results / quality_results 요약 저장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2E5BFF"/>
                </a:solidFill>
                <a:latin typeface="Malgun Gothic"/>
              </a:rPr>
              <a:t>● </a:t>
            </a:r>
            <a:r>
              <a:rPr sz="1300">
                <a:solidFill>
                  <a:srgbClr val="1A2033"/>
                </a:solidFill>
                <a:latin typeface="Malgun Gothic"/>
              </a:rPr>
              <a:t>이미지 바이너리는 DB에 저장하지 않음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5112" y="1463040"/>
            <a:ext cx="3611880" cy="420624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5112" y="1463040"/>
            <a:ext cx="3611880" cy="548640"/>
          </a:xfrm>
          <a:prstGeom prst="rect">
            <a:avLst/>
          </a:prstGeom>
          <a:solidFill>
            <a:srgbClr val="10B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1554480"/>
            <a:ext cx="333756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Artifact Storage (storage/)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194560"/>
            <a:ext cx="3246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10B9B0"/>
                </a:solidFill>
                <a:latin typeface="Malgun Gothic"/>
              </a:rPr>
              <a:t>● </a:t>
            </a:r>
            <a:r>
              <a:rPr sz="1300">
                <a:solidFill>
                  <a:srgbClr val="1A2033"/>
                </a:solidFill>
                <a:latin typeface="Malgun Gothic"/>
              </a:rPr>
              <a:t>원자적 쓰기 → fsync → rename 순서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10B9B0"/>
                </a:solidFill>
                <a:latin typeface="Malgun Gothic"/>
              </a:rPr>
              <a:t>● </a:t>
            </a:r>
            <a:r>
              <a:rPr sz="1300">
                <a:solidFill>
                  <a:srgbClr val="1A2033"/>
                </a:solidFill>
                <a:latin typeface="Malgun Gothic"/>
              </a:rPr>
              <a:t>SHA-256 체크섬 + 크기 기록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10B9B0"/>
                </a:solidFill>
                <a:latin typeface="Malgun Gothic"/>
              </a:rPr>
              <a:t>● </a:t>
            </a:r>
            <a:r>
              <a:rPr sz="1300">
                <a:solidFill>
                  <a:srgbClr val="1A2033"/>
                </a:solidFill>
                <a:latin typeface="Malgun Gothic"/>
              </a:rPr>
              <a:t>task_artifacts에 경로·타입·버전 등록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10B9B0"/>
                </a:solidFill>
                <a:latin typeface="Malgun Gothic"/>
              </a:rPr>
              <a:t>● </a:t>
            </a:r>
            <a:r>
              <a:rPr sz="1300">
                <a:solidFill>
                  <a:srgbClr val="1A2033"/>
                </a:solidFill>
                <a:latin typeface="Malgun Gothic"/>
              </a:rPr>
              <a:t>아티팩트는 로그가 아닌 영속 산출물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1584" y="1463040"/>
            <a:ext cx="3611880" cy="420624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4" y="1463040"/>
            <a:ext cx="3611880" cy="548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8744" y="1554480"/>
            <a:ext cx="333756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Recovery (agent/)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194560"/>
            <a:ext cx="3246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F5A623"/>
                </a:solidFill>
                <a:latin typeface="Malgun Gothic"/>
              </a:rPr>
              <a:t>● </a:t>
            </a:r>
            <a:r>
              <a:rPr sz="1300">
                <a:solidFill>
                  <a:srgbClr val="1A2033"/>
                </a:solidFill>
                <a:latin typeface="Malgun Gothic"/>
              </a:rPr>
              <a:t>재시작 시 미완료 태스크 로드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F5A623"/>
                </a:solidFill>
                <a:latin typeface="Malgun Gothic"/>
              </a:rPr>
              <a:t>● </a:t>
            </a:r>
            <a:r>
              <a:rPr sz="1300">
                <a:solidFill>
                  <a:srgbClr val="1A2033"/>
                </a:solidFill>
                <a:latin typeface="Malgun Gothic"/>
              </a:rPr>
              <a:t>DB상태+아티팩트파일+체크섬+내보내기 검증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F5A623"/>
                </a:solidFill>
                <a:latin typeface="Malgun Gothic"/>
              </a:rPr>
              <a:t>● </a:t>
            </a:r>
            <a:r>
              <a:rPr sz="1300">
                <a:solidFill>
                  <a:srgbClr val="1A2033"/>
                </a:solidFill>
                <a:latin typeface="Malgun Gothic"/>
              </a:rPr>
              <a:t>가장 안전한 유효 단계부터 재개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F5A623"/>
                </a:solidFill>
                <a:latin typeface="Malgun Gothic"/>
              </a:rPr>
              <a:t>● </a:t>
            </a:r>
            <a:r>
              <a:rPr sz="1300">
                <a:solidFill>
                  <a:srgbClr val="1A2033"/>
                </a:solidFill>
                <a:latin typeface="Malgun Gothic"/>
              </a:rPr>
              <a:t>로그를 복구 진실원천으로 쓰지 않음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372"/>
                </a:solidFill>
                <a:latin typeface="Malgun Gothic"/>
              </a:rPr>
              <a:t>Tonevyra AI Agent · 보정 파이프라인 역할 정의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372"/>
                </a:solidFill>
                <a:latin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3500"/>
          </a:xfrm>
          <a:prstGeom prst="rect">
            <a:avLst/>
          </a:prstGeom>
          <a:solidFill>
            <a:srgbClr val="10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B9B0"/>
                </a:solidFill>
                <a:latin typeface="Malgun Gothic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역할 경계 요약 — 책임 분리 원칙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3017520" cy="658368"/>
          </a:xfrm>
          <a:prstGeom prst="rect">
            <a:avLst/>
          </a:prstGeom>
          <a:solidFill>
            <a:srgbClr val="101B3A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417320"/>
            <a:ext cx="28346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algun Gothic"/>
              </a:rPr>
              <a:t>구성요소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417320"/>
            <a:ext cx="4206240" cy="658368"/>
          </a:xfrm>
          <a:prstGeom prst="rect">
            <a:avLst/>
          </a:prstGeom>
          <a:solidFill>
            <a:srgbClr val="101B3A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8" y="1417320"/>
            <a:ext cx="402336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algun Gothic"/>
              </a:rPr>
              <a:t>핵심 역할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417320"/>
            <a:ext cx="3840480" cy="658368"/>
          </a:xfrm>
          <a:prstGeom prst="rect">
            <a:avLst/>
          </a:prstGeom>
          <a:solidFill>
            <a:srgbClr val="101B3A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82128" y="1417320"/>
            <a:ext cx="365760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algun Gothic"/>
              </a:rPr>
              <a:t>절대 하지 않는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75688"/>
            <a:ext cx="3017520" cy="658368"/>
          </a:xfrm>
          <a:prstGeom prst="rect">
            <a:avLst/>
          </a:prstGeom>
          <a:solidFill>
            <a:srgbClr val="F2F5FB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075688"/>
            <a:ext cx="28346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1B3A"/>
                </a:solidFill>
                <a:latin typeface="Malgun Gothic"/>
              </a:rPr>
              <a:t>Vision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2075688"/>
            <a:ext cx="4206240" cy="658368"/>
          </a:xfrm>
          <a:prstGeom prst="rect">
            <a:avLst/>
          </a:prstGeom>
          <a:solidFill>
            <a:srgbClr val="F2F5FB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5888" y="2075688"/>
            <a:ext cx="402336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33"/>
                </a:solidFill>
                <a:latin typeface="Malgun Gothic"/>
              </a:rPr>
              <a:t>이미지 분석·진단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2075688"/>
            <a:ext cx="3840480" cy="658368"/>
          </a:xfrm>
          <a:prstGeom prst="rect">
            <a:avLst/>
          </a:prstGeom>
          <a:solidFill>
            <a:srgbClr val="F2F5FB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82128" y="2075688"/>
            <a:ext cx="365760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05353"/>
                </a:solidFill>
                <a:latin typeface="Malgun Gothic"/>
              </a:rPr>
              <a:t>보정값 직접 생성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34056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734056"/>
            <a:ext cx="28346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1B3A"/>
                </a:solidFill>
                <a:latin typeface="Malgun Gothic"/>
              </a:rPr>
              <a:t>Correction Planner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2734056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75888" y="2734056"/>
            <a:ext cx="402336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33"/>
                </a:solidFill>
                <a:latin typeface="Malgun Gothic"/>
              </a:rPr>
              <a:t>클램프된 보정값 생성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2734056"/>
            <a:ext cx="3840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82128" y="2734056"/>
            <a:ext cx="365760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05353"/>
                </a:solidFill>
                <a:latin typeface="Malgun Gothic"/>
              </a:rPr>
              <a:t>모델 로드/직접 적용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392424"/>
            <a:ext cx="3017520" cy="658368"/>
          </a:xfrm>
          <a:prstGeom prst="rect">
            <a:avLst/>
          </a:prstGeom>
          <a:solidFill>
            <a:srgbClr val="F2F5FB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392424"/>
            <a:ext cx="28346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1B3A"/>
                </a:solidFill>
                <a:latin typeface="Malgun Gothic"/>
              </a:rPr>
              <a:t>Lightroom Plugin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66160" y="3392424"/>
            <a:ext cx="4206240" cy="658368"/>
          </a:xfrm>
          <a:prstGeom prst="rect">
            <a:avLst/>
          </a:prstGeom>
          <a:solidFill>
            <a:srgbClr val="F2F5FB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75888" y="3392424"/>
            <a:ext cx="402336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33"/>
                </a:solidFill>
                <a:latin typeface="Malgun Gothic"/>
              </a:rPr>
              <a:t>기술적 적용·내보내기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3392424"/>
            <a:ext cx="3840480" cy="658368"/>
          </a:xfrm>
          <a:prstGeom prst="rect">
            <a:avLst/>
          </a:prstGeom>
          <a:solidFill>
            <a:srgbClr val="F2F5FB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82128" y="3392424"/>
            <a:ext cx="365760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05353"/>
                </a:solidFill>
                <a:latin typeface="Malgun Gothic"/>
              </a:rPr>
              <a:t>분석·품질·재시도 판단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050792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4050792"/>
            <a:ext cx="28346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1B3A"/>
                </a:solidFill>
                <a:latin typeface="Malgun Gothic"/>
              </a:rPr>
              <a:t>Quality Gate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66160" y="4050792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75888" y="4050792"/>
            <a:ext cx="402336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33"/>
                </a:solidFill>
                <a:latin typeface="Malgun Gothic"/>
              </a:rPr>
              <a:t>품질 평가·판정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050792"/>
            <a:ext cx="3840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82128" y="4050792"/>
            <a:ext cx="365760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05353"/>
                </a:solidFill>
                <a:latin typeface="Malgun Gothic"/>
              </a:rPr>
              <a:t>보정값 변경/재요청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709160"/>
            <a:ext cx="3017520" cy="658368"/>
          </a:xfrm>
          <a:prstGeom prst="rect">
            <a:avLst/>
          </a:prstGeom>
          <a:solidFill>
            <a:srgbClr val="F2F5FB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4709160"/>
            <a:ext cx="28346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1B3A"/>
                </a:solidFill>
                <a:latin typeface="Malgun Gothic"/>
              </a:rPr>
              <a:t>Retry Controller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66160" y="4709160"/>
            <a:ext cx="4206240" cy="658368"/>
          </a:xfrm>
          <a:prstGeom prst="rect">
            <a:avLst/>
          </a:prstGeom>
          <a:solidFill>
            <a:srgbClr val="F2F5FB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75888" y="4709160"/>
            <a:ext cx="402336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33"/>
                </a:solidFill>
                <a:latin typeface="Malgun Gothic"/>
              </a:rPr>
              <a:t>재시도 예산·진척 관리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4709160"/>
            <a:ext cx="3840480" cy="658368"/>
          </a:xfrm>
          <a:prstGeom prst="rect">
            <a:avLst/>
          </a:prstGeom>
          <a:solidFill>
            <a:srgbClr val="F2F5FB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82128" y="4709160"/>
            <a:ext cx="365760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05353"/>
                </a:solidFill>
                <a:latin typeface="Malgun Gothic"/>
              </a:rPr>
              <a:t>무한 재시도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367528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5367528"/>
            <a:ext cx="28346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1B3A"/>
                </a:solidFill>
                <a:latin typeface="Malgun Gothic"/>
              </a:rPr>
              <a:t>DB / Storage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66160" y="5367528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75888" y="5367528"/>
            <a:ext cx="402336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033"/>
                </a:solidFill>
                <a:latin typeface="Malgun Gothic"/>
              </a:rPr>
              <a:t>상태·아티팩트 영속화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0" y="5367528"/>
            <a:ext cx="3840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82128" y="5367528"/>
            <a:ext cx="365760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05353"/>
                </a:solidFill>
                <a:latin typeface="Malgun Gothic"/>
              </a:rPr>
              <a:t>이미지 바이너리 저장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01B3A"/>
                </a:solidFill>
                <a:latin typeface="Malgun Gothic"/>
              </a:rPr>
              <a:t>원칙: 분석(진단) · 계획(보정값) · 실행(LR) · 검증(품질) · 제어(재시도)는 분리되며, 각 단계는 영속 증거를 남긴다.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372"/>
                </a:solidFill>
                <a:latin typeface="Malgun Gothic"/>
              </a:rPr>
              <a:t>Tonevyra AI Agent · 보정 파이프라인 역할 정의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372"/>
                </a:solidFill>
                <a:latin typeface="Malgun Gothic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