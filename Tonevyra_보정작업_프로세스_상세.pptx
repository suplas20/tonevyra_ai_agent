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50800"/>
          </a:xfrm>
          <a:prstGeom prst="rect">
            <a:avLst/>
          </a:prstGeom>
          <a:solidFill>
            <a:srgbClr val="0FB8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FB8AF"/>
                </a:solidFill>
                <a:latin typeface="Malgun Gothic"/>
              </a:rPr>
              <a:t>Tonevyra AI · Local Photo Correction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Malgun Gothic"/>
              </a:rPr>
              <a:t>보정 작업 프로세스 상세 해설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Malgun Gothic"/>
              </a:rPr>
              <a:t>모듈 내부 구조와 실제 처리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C7D0E8"/>
                </a:solidFill>
                <a:latin typeface="Malgun Gothic"/>
              </a:rPr>
              <a:t>각 모듈이 내부적으로 어떤 단계를 거치는지 — 특히 Vision 모듈은 '모델' 하나가 아니라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C7D0E8"/>
                </a:solidFill>
                <a:latin typeface="Malgun Gothic"/>
              </a:rPr>
              <a:t>프롬프트 생성 · 백엔드(3종) · 어휘 정규화 · 스키마 검증의 묶음입니다.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C7D0E8"/>
                </a:solidFill>
                <a:latin typeface="Malgun Gothic"/>
              </a:rPr>
              <a:t>이 문서는 src/tonevyra_agent 실제 코드의 호출 순서를 기준으로 작성했습니다.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Malgun Gothic"/>
              </a:rPr>
              <a:t>2026-06-24 · 기준: worker.py / vision / correction / quality / providers /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E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63500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9728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B8AF"/>
                </a:solidFill>
                <a:latin typeface="Malgun Gothic"/>
              </a:rPr>
              <a:t>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전체 처리 파이프라인 — 실제 단계와 상태(Status)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516989" cy="192024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516989" cy="88900"/>
          </a:xfrm>
          <a:prstGeom prst="rect">
            <a:avLst/>
          </a:prstGeom>
          <a:solidFill>
            <a:srgbClr val="0FB8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81912"/>
            <a:ext cx="1516989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FB8AF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20"/>
            <a:ext cx="1516989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1833"/>
                </a:solidFill>
                <a:latin typeface="Consolas"/>
              </a:rPr>
              <a:t>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1516989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A2033"/>
                </a:solidFill>
                <a:latin typeface="Malgun Gothic"/>
              </a:rPr>
              <a:t>파일 감지·안정화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1516989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Consolas"/>
              </a:rPr>
              <a:t>DETECTED→STABILIZING→QUEUED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6757" y="2103120"/>
            <a:ext cx="219456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2E5BFF"/>
                </a:solidFill>
                <a:latin typeface="Malgun Gothic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83917" y="1417320"/>
            <a:ext cx="1516989" cy="192024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83917" y="1417320"/>
            <a:ext cx="1516989" cy="88900"/>
          </a:xfrm>
          <a:prstGeom prst="rect">
            <a:avLst/>
          </a:prstGeom>
          <a:solidFill>
            <a:srgbClr val="0FB8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83917" y="1581912"/>
            <a:ext cx="1516989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FB8AF"/>
                </a:solidFill>
                <a:latin typeface="Malgun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3917" y="1874520"/>
            <a:ext cx="1516989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1833"/>
                </a:solidFill>
                <a:latin typeface="Consolas"/>
              </a:rPr>
              <a:t>metadata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1833"/>
                </a:solidFill>
                <a:latin typeface="Consolas"/>
              </a:rPr>
              <a:t>+preview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3917" y="2331720"/>
            <a:ext cx="1516989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A2033"/>
                </a:solidFill>
                <a:latin typeface="Malgun Gothic"/>
              </a:rPr>
              <a:t>EXIF 추출·1024px 프리뷰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83917" y="2834640"/>
            <a:ext cx="1516989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Consolas"/>
              </a:rPr>
              <a:t>ANALYZING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3475" y="2103120"/>
            <a:ext cx="219456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2E5BFF"/>
                </a:solidFill>
                <a:latin typeface="Malgun Gothic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10635" y="1417320"/>
            <a:ext cx="1516989" cy="192024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10635" y="1417320"/>
            <a:ext cx="1516989" cy="88900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10635" y="1581912"/>
            <a:ext cx="1516989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0635" y="1874520"/>
            <a:ext cx="1516989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1833"/>
                </a:solidFill>
                <a:latin typeface="Consolas"/>
              </a:rPr>
              <a:t>vision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10635" y="2331720"/>
            <a:ext cx="1516989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A2033"/>
                </a:solidFill>
                <a:latin typeface="Malgun Gothic"/>
              </a:rPr>
              <a:t>이미지 분석(백엔드)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10635" y="2834640"/>
            <a:ext cx="1516989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Consolas"/>
              </a:rPr>
              <a:t>ANALYSIS_DONE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0192" y="2103120"/>
            <a:ext cx="219456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2E5BFF"/>
                </a:solidFill>
                <a:latin typeface="Malgun Gothic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37352" y="1417320"/>
            <a:ext cx="1516989" cy="192024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37352" y="1417320"/>
            <a:ext cx="1516989" cy="88900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37352" y="1581912"/>
            <a:ext cx="1516989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7352" y="1874520"/>
            <a:ext cx="1516989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1833"/>
                </a:solidFill>
                <a:latin typeface="Consolas"/>
              </a:rPr>
              <a:t>correction_plan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7352" y="2331720"/>
            <a:ext cx="1516989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A2033"/>
                </a:solidFill>
                <a:latin typeface="Malgun Gothic"/>
              </a:rPr>
              <a:t>보정값 계획·클램프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7352" y="2834640"/>
            <a:ext cx="1516989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Consolas"/>
              </a:rPr>
              <a:t>CORRECTION_PLANNED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26910" y="2103120"/>
            <a:ext cx="219456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2E5BFF"/>
                </a:solidFill>
                <a:latin typeface="Malgun Gothic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64070" y="1417320"/>
            <a:ext cx="1516989" cy="192024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64070" y="1417320"/>
            <a:ext cx="1516989" cy="88900"/>
          </a:xfrm>
          <a:prstGeom prst="rect">
            <a:avLst/>
          </a:prstGeom>
          <a:solidFill>
            <a:srgbClr val="E89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64070" y="1581912"/>
            <a:ext cx="1516989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E89610"/>
                </a:solidFill>
                <a:latin typeface="Malgun Gothic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4070" y="1874520"/>
            <a:ext cx="1516989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1833"/>
                </a:solidFill>
                <a:latin typeface="Consolas"/>
              </a:rPr>
              <a:t>lightroom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64070" y="2331720"/>
            <a:ext cx="1516989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A2033"/>
                </a:solidFill>
                <a:latin typeface="Malgun Gothic"/>
              </a:rPr>
              <a:t>보정 적용(T-019)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4070" y="2834640"/>
            <a:ext cx="1516989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Consolas"/>
              </a:rPr>
              <a:t>LIGHTROOM_REQUESTED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Consolas"/>
              </a:rPr>
              <a:t>→PROCESSING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3627" y="2103120"/>
            <a:ext cx="219456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2E5BFF"/>
                </a:solidFill>
                <a:latin typeface="Malgun Gothic"/>
              </a:rPr>
              <a:t>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90787" y="1417320"/>
            <a:ext cx="1516989" cy="192024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90787" y="1417320"/>
            <a:ext cx="1516989" cy="88900"/>
          </a:xfrm>
          <a:prstGeom prst="rect">
            <a:avLst/>
          </a:prstGeom>
          <a:solidFill>
            <a:srgbClr val="E89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0787" y="1581912"/>
            <a:ext cx="1516989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E89610"/>
                </a:solidFill>
                <a:latin typeface="Malgun Gothic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0787" y="1874520"/>
            <a:ext cx="1516989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1833"/>
                </a:solidFill>
                <a:latin typeface="Consolas"/>
              </a:rPr>
              <a:t>export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0787" y="2331720"/>
            <a:ext cx="1516989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A2033"/>
                </a:solidFill>
                <a:latin typeface="Malgun Gothic"/>
              </a:rPr>
              <a:t>보정본 내보내기(T-020)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0787" y="2834640"/>
            <a:ext cx="1516989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Consolas"/>
              </a:rPr>
              <a:t>EXPORT_DONE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80345" y="2103120"/>
            <a:ext cx="219456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2E5BFF"/>
                </a:solidFill>
                <a:latin typeface="Malgun Gothic"/>
              </a:rPr>
              <a:t>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17505" y="1417320"/>
            <a:ext cx="1516989" cy="192024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217505" y="1417320"/>
            <a:ext cx="1516989" cy="8890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17505" y="1581912"/>
            <a:ext cx="1516989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2EB872"/>
                </a:solidFill>
                <a:latin typeface="Malgun Gothic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17505" y="1874520"/>
            <a:ext cx="1516989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1833"/>
                </a:solidFill>
                <a:latin typeface="Consolas"/>
              </a:rPr>
              <a:t>quality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17505" y="2331720"/>
            <a:ext cx="1516989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A2033"/>
                </a:solidFill>
                <a:latin typeface="Malgun Gothic"/>
              </a:rPr>
              <a:t>품질 평가·판정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17505" y="2834640"/>
            <a:ext cx="1516989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Consolas"/>
              </a:rPr>
              <a:t>QUALITY_CHECK→PASS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Consolas"/>
              </a:rPr>
              <a:t>/REVIEW/FAILED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611880"/>
            <a:ext cx="11277295" cy="713232"/>
          </a:xfrm>
          <a:prstGeom prst="rect">
            <a:avLst/>
          </a:prstGeom>
          <a:solidFill>
            <a:srgbClr val="0E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3694176"/>
            <a:ext cx="10911535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</a:rPr>
              <a:t>⟲ Closed-Loop(T-021): quality 미달 → RETRY_REQUIRED → 새 Attempt → correction_plan 재계획 → 재적용/재내보내기 → 재평가 (플랜별 한도)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526280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1833"/>
                </a:solidFill>
                <a:latin typeface="Malgun Gothic"/>
              </a:rPr>
              <a:t>오케스트레이터: agent/worker.py 의 process_task() 가 위 단계를 순서대로 호출 (worker concurrency = 1)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892040"/>
            <a:ext cx="11277295" cy="1325880"/>
          </a:xfrm>
          <a:prstGeom prst="roundRect">
            <a:avLst/>
          </a:prstGeom>
          <a:solidFill>
            <a:srgbClr val="EC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5800" y="50292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5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50" b="1">
                <a:solidFill>
                  <a:srgbClr val="1A2033"/>
                </a:solidFill>
                <a:latin typeface="Malgun Gothic"/>
              </a:rPr>
              <a:t>단계마다 아티팩트를 원자적 저장 →</a:t>
            </a:r>
            <a:r>
              <a:rPr sz="1250">
                <a:solidFill>
                  <a:srgbClr val="5B6372"/>
                </a:solidFill>
                <a:latin typeface="Malgun Gothic"/>
              </a:rPr>
              <a:t> SHA-256 체크섬 → DB(task_artifacts) 등록 후에만 다음 단계로 진행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5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50" b="1">
                <a:solidFill>
                  <a:srgbClr val="1A2033"/>
                </a:solidFill>
                <a:latin typeface="Malgun Gothic"/>
              </a:rPr>
              <a:t>모든 상태 전이는 task_events 에 증거(loop_name, from/to status, evidence_artifacts)와 함께 기록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5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50" b="1">
                <a:solidFill>
                  <a:srgbClr val="1A2033"/>
                </a:solidFill>
                <a:latin typeface="Malgun Gothic"/>
              </a:rPr>
              <a:t>실패 시 구조화된 error_code 로 분기:</a:t>
            </a:r>
            <a:r>
              <a:rPr sz="1250">
                <a:solidFill>
                  <a:srgbClr val="5B6372"/>
                </a:solidFill>
                <a:latin typeface="Malgun Gothic"/>
              </a:rPr>
              <a:t> MODEL_OUTPUT_INVALID / CORRECTION_PLAN_FAILED / LIGHTROOM_* / EXPORT_FILE_MISSING / QUALITY_CHECK_FAILED ...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Tonevyra AI Agent · 보정 프로세스 상세 (실제 코드 기준)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E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63500"/>
          </a:xfrm>
          <a:prstGeom prst="rect">
            <a:avLst/>
          </a:prstGeom>
          <a:solidFill>
            <a:srgbClr val="7A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9728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B8AF"/>
                </a:solidFill>
                <a:latin typeface="Malgun Gothic"/>
              </a:rPr>
              <a:t>CODE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코드 구조 ↔ 역할 매핑 (src/tonevyra_agent)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420624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3500" cy="420624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188720"/>
            <a:ext cx="17373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E5BFF"/>
                </a:solidFill>
                <a:latin typeface="Consolas"/>
              </a:rPr>
              <a:t>agent/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188720"/>
            <a:ext cx="35661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2033"/>
                </a:solidFill>
                <a:latin typeface="Malgun Gothic"/>
              </a:rPr>
              <a:t>오케스트레이션·루프·복구·재시도·상태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188720"/>
            <a:ext cx="566928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Consolas"/>
              </a:rPr>
              <a:t>worker · watcher · loops · recovery · retry_controller · state_manager · plan_policy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09344"/>
            <a:ext cx="112471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609344"/>
            <a:ext cx="63500" cy="420624"/>
          </a:xfrm>
          <a:prstGeom prst="rect">
            <a:avLst/>
          </a:prstGeom>
          <a:solidFill>
            <a:srgbClr val="0FB8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609344"/>
            <a:ext cx="17373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B8AF"/>
                </a:solidFill>
                <a:latin typeface="Consolas"/>
              </a:rPr>
              <a:t>images/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1609344"/>
            <a:ext cx="35661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2033"/>
                </a:solidFill>
                <a:latin typeface="Malgun Gothic"/>
              </a:rPr>
              <a:t>메타데이터 추출·프리뷰 생성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609344"/>
            <a:ext cx="566928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Consolas"/>
              </a:rPr>
              <a:t>metadata · preview · raw_preview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29968"/>
            <a:ext cx="11247120" cy="420624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029968"/>
            <a:ext cx="63500" cy="420624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029968"/>
            <a:ext cx="17373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E5BFF"/>
                </a:solidFill>
                <a:latin typeface="Consolas"/>
              </a:rPr>
              <a:t>vision/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029968"/>
            <a:ext cx="35661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2033"/>
                </a:solidFill>
                <a:latin typeface="Malgun Gothic"/>
              </a:rPr>
              <a:t>분석 오케스트레이션·백엔드·어휘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029968"/>
            <a:ext cx="566928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Consolas"/>
              </a:rPr>
              <a:t>analyzer · model · vocabulary · benchmark · schemas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450592"/>
            <a:ext cx="112471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450592"/>
            <a:ext cx="63500" cy="420624"/>
          </a:xfrm>
          <a:prstGeom prst="rect">
            <a:avLst/>
          </a:prstGeom>
          <a:solidFill>
            <a:srgbClr val="7A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2450592"/>
            <a:ext cx="17373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A4BD8"/>
                </a:solidFill>
                <a:latin typeface="Consolas"/>
              </a:rPr>
              <a:t>providers/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2450592"/>
            <a:ext cx="35661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2033"/>
                </a:solidFill>
                <a:latin typeface="Malgun Gothic"/>
              </a:rPr>
              <a:t>T-021 분석/품질 Provider(module·model)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2450592"/>
            <a:ext cx="566928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Consolas"/>
              </a:rPr>
              <a:t>module_analysis · model_analysis · module_quality · model_quality · registry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871216"/>
            <a:ext cx="11247120" cy="420624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2871216"/>
            <a:ext cx="63500" cy="420624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2871216"/>
            <a:ext cx="17373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E5BFF"/>
                </a:solidFill>
                <a:latin typeface="Consolas"/>
              </a:rPr>
              <a:t>correction/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2871216"/>
            <a:ext cx="35661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2033"/>
                </a:solidFill>
                <a:latin typeface="Malgun Gothic"/>
              </a:rPr>
              <a:t>분석→보정값 계획·안전 클램프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2871216"/>
            <a:ext cx="566928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Consolas"/>
              </a:rPr>
              <a:t>planner · schemas (ADJUSTMENT_RANGES)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291840"/>
            <a:ext cx="112471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291840"/>
            <a:ext cx="63500" cy="420624"/>
          </a:xfrm>
          <a:prstGeom prst="rect">
            <a:avLst/>
          </a:prstGeom>
          <a:solidFill>
            <a:srgbClr val="7A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3291840"/>
            <a:ext cx="17373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A4BD8"/>
                </a:solidFill>
                <a:latin typeface="Consolas"/>
              </a:rPr>
              <a:t>semantic/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3291840"/>
            <a:ext cx="35661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2033"/>
                </a:solidFill>
                <a:latin typeface="Malgun Gothic"/>
              </a:rPr>
              <a:t>T-023 영역 분석·로컬(부분) 보정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3291840"/>
            <a:ext cx="566928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Consolas"/>
              </a:rPr>
              <a:t>analyzer · local_adjustment · schemas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712464"/>
            <a:ext cx="11247120" cy="420624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3712464"/>
            <a:ext cx="63500" cy="420624"/>
          </a:xfrm>
          <a:prstGeom prst="rect">
            <a:avLst/>
          </a:prstGeom>
          <a:solidFill>
            <a:srgbClr val="E89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3712464"/>
            <a:ext cx="17373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9610"/>
                </a:solidFill>
                <a:latin typeface="Consolas"/>
              </a:rPr>
              <a:t>lightroom/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3712464"/>
            <a:ext cx="35661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2033"/>
                </a:solidFill>
                <a:latin typeface="Malgun Gothic"/>
              </a:rPr>
              <a:t>Lua 플러그인 파일 JSON 브리지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3712464"/>
            <a:ext cx="566928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Consolas"/>
              </a:rPr>
              <a:t>bridge · schemas · plugin/TonevyraAI.lrplugin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133088"/>
            <a:ext cx="112471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133088"/>
            <a:ext cx="63500" cy="420624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4133088"/>
            <a:ext cx="17373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EB872"/>
                </a:solidFill>
                <a:latin typeface="Consolas"/>
              </a:rPr>
              <a:t>quality/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4133088"/>
            <a:ext cx="35661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2033"/>
                </a:solidFill>
                <a:latin typeface="Malgun Gothic"/>
              </a:rPr>
              <a:t>내보내기 평가·점수·판정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4133088"/>
            <a:ext cx="566928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Consolas"/>
              </a:rPr>
              <a:t>analyzer · scoring · schemas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553712"/>
            <a:ext cx="11247120" cy="420624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4553712"/>
            <a:ext cx="63500" cy="420624"/>
          </a:xfrm>
          <a:prstGeom prst="rect">
            <a:avLst/>
          </a:prstGeom>
          <a:solidFill>
            <a:srgbClr val="7A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" y="4553712"/>
            <a:ext cx="17373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A4BD8"/>
                </a:solidFill>
                <a:latin typeface="Consolas"/>
              </a:rPr>
              <a:t>batch/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86000" y="4553712"/>
            <a:ext cx="35661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2033"/>
                </a:solidFill>
                <a:latin typeface="Malgun Gothic"/>
              </a:rPr>
              <a:t>T-024 사진 세트 일관성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0" y="4553712"/>
            <a:ext cx="566928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Consolas"/>
              </a:rPr>
              <a:t>processor · set_consistency · schemas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4974336"/>
            <a:ext cx="112471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" y="4974336"/>
            <a:ext cx="63500" cy="420624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4974336"/>
            <a:ext cx="17373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EB872"/>
                </a:solidFill>
                <a:latin typeface="Consolas"/>
              </a:rPr>
              <a:t>learning/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86000" y="4974336"/>
            <a:ext cx="35661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2033"/>
                </a:solidFill>
                <a:latin typeface="Malgun Gothic"/>
              </a:rPr>
              <a:t>피드백·캘리브레이션·스타일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0" y="4974336"/>
            <a:ext cx="566928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Consolas"/>
              </a:rPr>
              <a:t>feedback · dataset_builder · recipe_calibration · style_profile · reference_pair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5394960"/>
            <a:ext cx="11247120" cy="420624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7200" y="5394960"/>
            <a:ext cx="63500" cy="420624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6928" y="5394960"/>
            <a:ext cx="17373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E5BFF"/>
                </a:solidFill>
                <a:latin typeface="Consolas"/>
              </a:rPr>
              <a:t>model_runtime/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86000" y="5394960"/>
            <a:ext cx="35661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2033"/>
                </a:solidFill>
                <a:latin typeface="Malgun Gothic"/>
              </a:rPr>
              <a:t>로컬 모델 런타임·출력 정규화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0" y="5394960"/>
            <a:ext cx="566928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Consolas"/>
              </a:rPr>
              <a:t>local_vision_runtime · qwen_runner · output_normalizer · manifest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5815584"/>
            <a:ext cx="112471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57200" y="5815584"/>
            <a:ext cx="63500" cy="420624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6928" y="5815584"/>
            <a:ext cx="17373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5B6372"/>
                </a:solidFill>
                <a:latin typeface="Consolas"/>
              </a:rPr>
              <a:t>db/ · storage/ · core/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86000" y="5815584"/>
            <a:ext cx="35661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2033"/>
                </a:solidFill>
                <a:latin typeface="Malgun Gothic"/>
              </a:rPr>
              <a:t>영속화·아티팩트·설정/enum/error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43600" y="5815584"/>
            <a:ext cx="566928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Consolas"/>
              </a:rPr>
              <a:t>models · repositories · artifacts · config · enums · errors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Tonevyra AI Agent · 보정 프로세스 상세 (실제 코드 기준)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E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63500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9728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B8AF"/>
                </a:solidFill>
                <a:latin typeface="Malgun Gothic"/>
              </a:rPr>
              <a:t>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Processing Loop 내부 호출 흐름 — worker.process_task()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7680960" cy="54864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76200" cy="548640"/>
          </a:xfrm>
          <a:prstGeom prst="rect">
            <a:avLst/>
          </a:prstGeom>
          <a:solidFill>
            <a:srgbClr val="0FB8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71016"/>
            <a:ext cx="7406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1833"/>
                </a:solidFill>
                <a:latin typeface="Consolas"/>
              </a:rPr>
              <a:t>_run_metadata_preview()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17904"/>
            <a:ext cx="7406640" cy="24688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Malgun Gothic"/>
              </a:rPr>
              <a:t>images.create_metadata_and_preview_artifacts → exif.json, preview.jpg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56232"/>
            <a:ext cx="7680960" cy="54864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56232"/>
            <a:ext cx="76200" cy="548640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92808"/>
            <a:ext cx="7406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1833"/>
                </a:solidFill>
                <a:latin typeface="Consolas"/>
              </a:rPr>
              <a:t>_run_vision()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39696"/>
            <a:ext cx="7406640" cy="24688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Malgun Gothic"/>
              </a:rPr>
              <a:t>VisionAnalyzer.analyze → vision_prompt/raw/structured.json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478024"/>
            <a:ext cx="7680960" cy="54864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478024"/>
            <a:ext cx="76200" cy="548640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514600"/>
            <a:ext cx="7406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1833"/>
                </a:solidFill>
                <a:latin typeface="Consolas"/>
              </a:rPr>
              <a:t>_run_correction_plan()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761488"/>
            <a:ext cx="7406640" cy="24688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Malgun Gothic"/>
              </a:rPr>
              <a:t>CorrectionPlanner.plan_from_artifact → correction_plan.json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99816"/>
            <a:ext cx="7680960" cy="54864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099816"/>
            <a:ext cx="76200" cy="548640"/>
          </a:xfrm>
          <a:prstGeom prst="rect">
            <a:avLst/>
          </a:prstGeom>
          <a:solidFill>
            <a:srgbClr val="E89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136392"/>
            <a:ext cx="7406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1833"/>
                </a:solidFill>
                <a:latin typeface="Consolas"/>
              </a:rPr>
              <a:t>_write_lightroom_request()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383280"/>
            <a:ext cx="7406640" cy="24688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Malgun Gothic"/>
              </a:rPr>
              <a:t>LightroomBridge.write_request → bridge/requests/*.json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21608"/>
            <a:ext cx="7680960" cy="54864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721608"/>
            <a:ext cx="76200" cy="548640"/>
          </a:xfrm>
          <a:prstGeom prst="rect">
            <a:avLst/>
          </a:prstGeom>
          <a:solidFill>
            <a:srgbClr val="E89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758184"/>
            <a:ext cx="7406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1833"/>
                </a:solidFill>
                <a:latin typeface="Consolas"/>
              </a:rPr>
              <a:t>[lightroom] _wait/_ingest_response()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005072"/>
            <a:ext cx="7406640" cy="24688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Malgun Gothic"/>
              </a:rPr>
              <a:t>apply 결과 검증 (status=applied)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343400"/>
            <a:ext cx="7680960" cy="54864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343400"/>
            <a:ext cx="76200" cy="548640"/>
          </a:xfrm>
          <a:prstGeom prst="rect">
            <a:avLst/>
          </a:prstGeom>
          <a:solidFill>
            <a:srgbClr val="E89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379976"/>
            <a:ext cx="7406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1833"/>
                </a:solidFill>
                <a:latin typeface="Consolas"/>
              </a:rPr>
              <a:t>[lightroom] _write_export_request → _ingest_export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626864"/>
            <a:ext cx="7406640" cy="24688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Malgun Gothic"/>
              </a:rPr>
              <a:t>export 결과+파일 검증 (T-020)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65192"/>
            <a:ext cx="7680960" cy="54864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65192"/>
            <a:ext cx="76200" cy="54864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001768"/>
            <a:ext cx="7406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1833"/>
                </a:solidFill>
                <a:latin typeface="Consolas"/>
              </a:rPr>
              <a:t>_run_quality_gate()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248656"/>
            <a:ext cx="7406640" cy="24688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Malgun Gothic"/>
              </a:rPr>
              <a:t>QualityGate.evaluate_export → quality_detail.json + decision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586984"/>
            <a:ext cx="7680960" cy="54864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586984"/>
            <a:ext cx="76200" cy="54864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623560"/>
            <a:ext cx="7406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1833"/>
                </a:solidFill>
                <a:latin typeface="Consolas"/>
              </a:rPr>
              <a:t>_move_final_export() → _record_task_finalized()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870448"/>
            <a:ext cx="7406640" cy="24688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Malgun Gothic"/>
              </a:rPr>
              <a:t>output/{pass|review_required|failed}/{task_id}.jpg + 이벤트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66760" y="1234440"/>
            <a:ext cx="3383280" cy="4937760"/>
          </a:xfrm>
          <a:prstGeom prst="roundRect">
            <a:avLst/>
          </a:prstGeom>
          <a:solidFill>
            <a:srgbClr val="0E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1371600"/>
            <a:ext cx="30175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FB8AF"/>
                </a:solidFill>
                <a:latin typeface="Malgun Gothic"/>
              </a:rPr>
              <a:t>공통 불변식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50" b="1">
                <a:solidFill>
                  <a:srgbClr val="0FB8AF"/>
                </a:solidFill>
                <a:latin typeface="Malgun Gothic"/>
              </a:rPr>
              <a:t>● </a:t>
            </a:r>
            <a:r>
              <a:rPr sz="1150" b="1">
                <a:solidFill>
                  <a:srgbClr val="FFFFFF"/>
                </a:solidFill>
                <a:latin typeface="Malgun Gothic"/>
              </a:rPr>
              <a:t>단계별 별도 DB 세션</a:t>
            </a:r>
            <a:r>
              <a:rPr sz="1150">
                <a:solidFill>
                  <a:srgbClr val="C7D0E8"/>
                </a:solidFill>
                <a:latin typeface="Malgun Gothic"/>
              </a:rPr>
              <a:t> (session_scope) 으로 트랜잭션 분리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50" b="1">
                <a:solidFill>
                  <a:srgbClr val="0FB8AF"/>
                </a:solidFill>
                <a:latin typeface="Malgun Gothic"/>
              </a:rPr>
              <a:t>● </a:t>
            </a:r>
            <a:r>
              <a:rPr sz="1150" b="1">
                <a:solidFill>
                  <a:srgbClr val="FFFFFF"/>
                </a:solidFill>
                <a:latin typeface="Malgun Gothic"/>
              </a:rPr>
              <a:t>아티팩트 우선 저장 후</a:t>
            </a:r>
            <a:r>
              <a:rPr sz="1150">
                <a:solidFill>
                  <a:srgbClr val="C7D0E8"/>
                </a:solidFill>
                <a:latin typeface="Malgun Gothic"/>
              </a:rPr>
              <a:t> 상태 업데이트 → 부분 실패 복구 가능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50" b="1">
                <a:solidFill>
                  <a:srgbClr val="0FB8AF"/>
                </a:solidFill>
                <a:latin typeface="Malgun Gothic"/>
              </a:rPr>
              <a:t>● </a:t>
            </a:r>
            <a:r>
              <a:rPr sz="1150" b="1">
                <a:solidFill>
                  <a:srgbClr val="FFFFFF"/>
                </a:solidFill>
                <a:latin typeface="Malgun Gothic"/>
              </a:rPr>
              <a:t>TonevyraError 발생 시</a:t>
            </a:r>
            <a:r>
              <a:rPr sz="1150">
                <a:solidFill>
                  <a:srgbClr val="C7D0E8"/>
                </a:solidFill>
                <a:latin typeface="Malgun Gothic"/>
              </a:rPr>
              <a:t> 구조화 error_code + failed_stage 로 실패 마킹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50" b="1">
                <a:solidFill>
                  <a:srgbClr val="0FB8AF"/>
                </a:solidFill>
                <a:latin typeface="Malgun Gothic"/>
              </a:rPr>
              <a:t>● </a:t>
            </a:r>
            <a:r>
              <a:rPr sz="1150" b="1">
                <a:solidFill>
                  <a:srgbClr val="FFFFFF"/>
                </a:solidFill>
                <a:latin typeface="Malgun Gothic"/>
              </a:rPr>
              <a:t>예외는 단계별로 격리</a:t>
            </a:r>
            <a:r>
              <a:rPr sz="1150">
                <a:solidFill>
                  <a:srgbClr val="C7D0E8"/>
                </a:solidFill>
                <a:latin typeface="Malgun Gothic"/>
              </a:rPr>
              <a:t> 한 단계 실패가 전체를 오염시키지 않음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50" b="1">
                <a:solidFill>
                  <a:srgbClr val="0FB8AF"/>
                </a:solidFill>
                <a:latin typeface="Malgun Gothic"/>
              </a:rPr>
              <a:t>● </a:t>
            </a:r>
            <a:r>
              <a:rPr sz="1150" b="1">
                <a:solidFill>
                  <a:srgbClr val="FFFFFF"/>
                </a:solidFill>
                <a:latin typeface="Malgun Gothic"/>
              </a:rPr>
              <a:t>fake / lightroom 백엔드</a:t>
            </a:r>
            <a:r>
              <a:rPr sz="1150">
                <a:solidFill>
                  <a:srgbClr val="C7D0E8"/>
                </a:solidFill>
                <a:latin typeface="Malgun Gothic"/>
              </a:rPr>
              <a:t> 분기: 테스트는 fake, 실제는 plugin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Tonevyra AI Agent · 보정 프로세스 상세 (실제 코드 기준)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E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63500"/>
          </a:xfrm>
          <a:prstGeom prst="rect">
            <a:avLst/>
          </a:prstGeom>
          <a:solidFill>
            <a:srgbClr val="0FB8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9728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B8AF"/>
                </a:solidFill>
                <a:latin typeface="Malgun Gothic"/>
              </a:rPr>
              <a:t>STAGE 1–2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① 감지/안정화  +  ② 메타데이터·프리뷰 (내부 단계)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86400" cy="493776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2926080" cy="310896"/>
          </a:xfrm>
          <a:prstGeom prst="roundRect">
            <a:avLst/>
          </a:prstGeom>
          <a:solidFill>
            <a:srgbClr val="0FB8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292608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① agent/watcher.py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00" b="1">
                <a:solidFill>
                  <a:srgbClr val="1A2033"/>
                </a:solidFill>
                <a:latin typeface="Malgun Gothic"/>
              </a:rPr>
              <a:t>입력 폴더 감시</a:t>
            </a:r>
            <a:r>
              <a:rPr sz="1200">
                <a:solidFill>
                  <a:srgbClr val="5B6372"/>
                </a:solidFill>
                <a:latin typeface="Malgun Gothic"/>
              </a:rPr>
              <a:t> runtime/input 의 신규 파일 탐지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00" b="1">
                <a:solidFill>
                  <a:srgbClr val="1A2033"/>
                </a:solidFill>
                <a:latin typeface="Malgun Gothic"/>
              </a:rPr>
              <a:t>확장자 필터</a:t>
            </a:r>
            <a:r>
              <a:rPr sz="1200">
                <a:solidFill>
                  <a:srgbClr val="5B6372"/>
                </a:solidFill>
                <a:latin typeface="Malgun Gothic"/>
              </a:rPr>
              <a:t> .cr3/.cr2/.nef/.arw/.dng/.jpg/.jpeg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00" b="1">
                <a:solidFill>
                  <a:srgbClr val="1A2033"/>
                </a:solidFill>
                <a:latin typeface="Malgun Gothic"/>
              </a:rPr>
              <a:t>무시 규칙</a:t>
            </a:r>
            <a:r>
              <a:rPr sz="1200">
                <a:solidFill>
                  <a:srgbClr val="5B6372"/>
                </a:solidFill>
                <a:latin typeface="Malgun Gothic"/>
              </a:rPr>
              <a:t> 숨김·.tmp·.part·.crdownload·.xmp·._* → SKIPPED 미생성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00" b="1">
                <a:solidFill>
                  <a:srgbClr val="1A2033"/>
                </a:solidFill>
                <a:latin typeface="Malgun Gothic"/>
              </a:rPr>
              <a:t>파일 안정화</a:t>
            </a:r>
            <a:r>
              <a:rPr sz="1200">
                <a:solidFill>
                  <a:srgbClr val="5B6372"/>
                </a:solidFill>
                <a:latin typeface="Malgun Gothic"/>
              </a:rPr>
              <a:t> 크기/수정시각 안정 확인 후에만 진입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00" b="1">
                <a:solidFill>
                  <a:srgbClr val="1A2033"/>
                </a:solidFill>
                <a:latin typeface="Malgun Gothic"/>
              </a:rPr>
              <a:t>작업 등록</a:t>
            </a:r>
            <a:r>
              <a:rPr sz="1200">
                <a:solidFill>
                  <a:srgbClr val="5B6372"/>
                </a:solidFill>
                <a:latin typeface="Malgun Gothic"/>
              </a:rPr>
              <a:t> image_tasks INSERT (DETECTED)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160520"/>
            <a:ext cx="5120640" cy="1783080"/>
          </a:xfrm>
          <a:prstGeom prst="rect">
            <a:avLst/>
          </a:prstGeom>
          <a:solidFill>
            <a:srgbClr val="F4F6FA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206240"/>
            <a:ext cx="497433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>
                <a:solidFill>
                  <a:srgbClr val="232A3B"/>
                </a:solidFill>
                <a:latin typeface="Consolas"/>
              </a:rPr>
              <a:t># 상태 전이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>
                <a:solidFill>
                  <a:srgbClr val="232A3B"/>
                </a:solidFill>
                <a:latin typeface="Consolas"/>
              </a:rPr>
              <a:t>DETECTED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>
                <a:solidFill>
                  <a:srgbClr val="232A3B"/>
                </a:solidFill>
                <a:latin typeface="Consolas"/>
              </a:rPr>
              <a:t>  → STABILIZING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>
                <a:solidFill>
                  <a:srgbClr val="232A3B"/>
                </a:solidFill>
                <a:latin typeface="Consolas"/>
              </a:rPr>
              <a:t>  → QUEUED   # 처리 대기열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>
                <a:solidFill>
                  <a:srgbClr val="232A3B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>
                <a:solidFill>
                  <a:srgbClr val="232A3B"/>
                </a:solidFill>
                <a:latin typeface="Consolas"/>
              </a:rPr>
              <a:t>실패: FILE_NOT_STABLE /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>
                <a:solidFill>
                  <a:srgbClr val="232A3B"/>
                </a:solidFill>
                <a:latin typeface="Consolas"/>
              </a:rPr>
              <a:t>      UNSUPPORTED_FILE_TYPE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486400" cy="493776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1325880"/>
            <a:ext cx="3291840" cy="310896"/>
          </a:xfrm>
          <a:prstGeom prst="roundRect">
            <a:avLst/>
          </a:prstGeom>
          <a:solidFill>
            <a:srgbClr val="0FB8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25880"/>
            <a:ext cx="329184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② images/ (metadata+preview)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00" b="1">
                <a:solidFill>
                  <a:srgbClr val="1A2033"/>
                </a:solidFill>
                <a:latin typeface="Malgun Gothic"/>
              </a:rPr>
              <a:t>metadata.py</a:t>
            </a:r>
            <a:r>
              <a:rPr sz="1200">
                <a:solidFill>
                  <a:srgbClr val="5B6372"/>
                </a:solidFill>
                <a:latin typeface="Malgun Gothic"/>
              </a:rPr>
              <a:t> EXIF 추출(make/model/lens/iso/shutter/f/focal...)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00" b="1">
                <a:solidFill>
                  <a:srgbClr val="1A2033"/>
                </a:solidFill>
                <a:latin typeface="Malgun Gothic"/>
              </a:rPr>
              <a:t>raw_preview.py</a:t>
            </a:r>
            <a:r>
              <a:rPr sz="1200">
                <a:solidFill>
                  <a:srgbClr val="5B6372"/>
                </a:solidFill>
                <a:latin typeface="Malgun Gothic"/>
              </a:rPr>
              <a:t> RAW면 내장 최대 JPEG 추출 후 처리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00" b="1">
                <a:solidFill>
                  <a:srgbClr val="1A2033"/>
                </a:solidFill>
                <a:latin typeface="Malgun Gothic"/>
              </a:rPr>
              <a:t>preview.py</a:t>
            </a:r>
            <a:r>
              <a:rPr sz="1200">
                <a:solidFill>
                  <a:srgbClr val="5B6372"/>
                </a:solidFill>
                <a:latin typeface="Malgun Gothic"/>
              </a:rPr>
              <a:t> 1024px · sRGB · JPEG 프리뷰 생성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00" b="1">
                <a:solidFill>
                  <a:srgbClr val="1A2033"/>
                </a:solidFill>
                <a:latin typeface="Malgun Gothic"/>
              </a:rPr>
              <a:t>산출물</a:t>
            </a:r>
            <a:r>
              <a:rPr sz="1200">
                <a:solidFill>
                  <a:srgbClr val="5B6372"/>
                </a:solidFill>
                <a:latin typeface="Malgun Gothic"/>
              </a:rPr>
              <a:t> exif.json + preview.jpg 아티팩트 등록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00" b="1">
                <a:solidFill>
                  <a:srgbClr val="1A2033"/>
                </a:solidFill>
                <a:latin typeface="Malgun Gothic"/>
              </a:rPr>
              <a:t>원칙</a:t>
            </a:r>
            <a:r>
              <a:rPr sz="1200">
                <a:solidFill>
                  <a:srgbClr val="5B6372"/>
                </a:solidFill>
                <a:latin typeface="Malgun Gothic"/>
              </a:rPr>
              <a:t> 원본 RAW는 모델에 직접 투입하지 않음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434840"/>
            <a:ext cx="5120640" cy="1508760"/>
          </a:xfrm>
          <a:prstGeom prst="rect">
            <a:avLst/>
          </a:prstGeom>
          <a:solidFill>
            <a:srgbClr val="F4F6FA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4480560"/>
            <a:ext cx="497433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>
                <a:solidFill>
                  <a:srgbClr val="232A3B"/>
                </a:solidFill>
                <a:latin typeface="Consolas"/>
              </a:rPr>
              <a:t>preview = 모델 입력 전용 (1024px sRGB)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>
                <a:solidFill>
                  <a:srgbClr val="232A3B"/>
                </a:solidFill>
                <a:latin typeface="Consolas"/>
              </a:rPr>
              <a:t>원본 = 메타데이터 / LR 보정대상 /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>
                <a:solidFill>
                  <a:srgbClr val="232A3B"/>
                </a:solidFill>
                <a:latin typeface="Consolas"/>
              </a:rPr>
              <a:t>        내보내기 / 품질비교 에만 사용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>
                <a:solidFill>
                  <a:srgbClr val="232A3B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>
                <a:solidFill>
                  <a:srgbClr val="232A3B"/>
                </a:solidFill>
                <a:latin typeface="Consolas"/>
              </a:rPr>
              <a:t>상태: ANALYZING / stage=METADATA→PREVIEW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Tonevyra AI Agent · 보정 프로세스 상세 (실제 코드 기준)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E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63500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9728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B8AF"/>
                </a:solidFill>
                <a:latin typeface="Malgun Gothic"/>
              </a:rPr>
              <a:t>STAGE 3 · 핵심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③ Vision 모듈 내부 — '모델 하나'가 아니라 처리 묶음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E1833"/>
                </a:solidFill>
                <a:latin typeface="Malgun Gothic"/>
              </a:rPr>
              <a:t>VisionAnalyzer.analyze() 가 프롬프트 생성 → 백엔드 추론 → 어휘 정규화 → 스키마 검증 → 영속화를 순서대로 수행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7498079" cy="603504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76200" cy="603504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554480"/>
            <a:ext cx="72237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1833"/>
                </a:solidFill>
                <a:latin typeface="Consolas"/>
              </a:rPr>
              <a:t>1  build_vision_prompt(metadata)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828800"/>
            <a:ext cx="722376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Malgun Gothic"/>
              </a:rPr>
              <a:t>EXIF 기반 프롬프트 + recipe_calibration 가이드 주입 → vision_prompt.txt 저장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76272"/>
            <a:ext cx="7498079" cy="603504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76272"/>
            <a:ext cx="76200" cy="603504"/>
          </a:xfrm>
          <a:prstGeom prst="rect">
            <a:avLst/>
          </a:prstGeom>
          <a:solidFill>
            <a:srgbClr val="7A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221992"/>
            <a:ext cx="72237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1833"/>
                </a:solidFill>
                <a:latin typeface="Consolas"/>
              </a:rPr>
              <a:t>2  backend.analyze(preview, meta, prompt)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496312"/>
            <a:ext cx="722376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Malgun Gothic"/>
              </a:rPr>
              <a:t>create_vision_backend()로 선택된 백엔드 추론 → vision_raw_response.json 저장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843784"/>
            <a:ext cx="7498079" cy="603504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843784"/>
            <a:ext cx="76200" cy="603504"/>
          </a:xfrm>
          <a:prstGeom prst="rect">
            <a:avLst/>
          </a:prstGeom>
          <a:solidFill>
            <a:srgbClr val="0FB8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889504"/>
            <a:ext cx="72237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1833"/>
                </a:solidFill>
                <a:latin typeface="Consolas"/>
              </a:rPr>
              <a:t>3  vocabulary.normalize_issues(...)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163824"/>
            <a:ext cx="722376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Malgun Gothic"/>
              </a:rPr>
              <a:t>모델 자유 텍스트(issues)를 플래너 표준 어휘로 정규화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11296"/>
            <a:ext cx="7498079" cy="603504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511296"/>
            <a:ext cx="76200" cy="603504"/>
          </a:xfrm>
          <a:prstGeom prst="rect">
            <a:avLst/>
          </a:prstGeom>
          <a:solidFill>
            <a:srgbClr val="0FB8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557016"/>
            <a:ext cx="72237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1833"/>
                </a:solidFill>
                <a:latin typeface="Consolas"/>
              </a:rPr>
              <a:t>4  _coerce_vision_result(...)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3831336"/>
            <a:ext cx="722376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Malgun Gothic"/>
              </a:rPr>
              <a:t>미지 키 제거 · 필수 issue 필드 보장 · confidence 0~1 클램프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78808"/>
            <a:ext cx="7498079" cy="603504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178808"/>
            <a:ext cx="76200" cy="603504"/>
          </a:xfrm>
          <a:prstGeom prst="rect">
            <a:avLst/>
          </a:prstGeom>
          <a:solidFill>
            <a:srgbClr val="DB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4224528"/>
            <a:ext cx="72237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1833"/>
                </a:solidFill>
                <a:latin typeface="Consolas"/>
              </a:rPr>
              <a:t>5  VisionAnalysisResult.model_validate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4498848"/>
            <a:ext cx="722376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Malgun Gothic"/>
              </a:rPr>
              <a:t>스키마 검증(extra=forbid). 실패 시 MODEL_OUTPUT_INVALID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846320"/>
            <a:ext cx="7498079" cy="603504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846320"/>
            <a:ext cx="76200" cy="603504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4892040"/>
            <a:ext cx="72237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1833"/>
                </a:solidFill>
                <a:latin typeface="Consolas"/>
              </a:rPr>
              <a:t>6  confidence &lt; threshold → requires_review=True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5166360"/>
            <a:ext cx="722376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Malgun Gothic"/>
              </a:rPr>
              <a:t>저신뢰도면 리뷰 플래그 → vision_structured.json 저장 + stage/event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79" y="1508760"/>
            <a:ext cx="3566160" cy="2240280"/>
          </a:xfrm>
          <a:prstGeom prst="roundRect">
            <a:avLst/>
          </a:prstGeom>
          <a:solidFill>
            <a:srgbClr val="EC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59" y="1600200"/>
            <a:ext cx="3200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E1833"/>
                </a:solidFill>
                <a:latin typeface="Malgun Gothic"/>
              </a:rPr>
              <a:t>출력 (분석 전용)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59" y="196596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050" b="1">
                <a:solidFill>
                  <a:srgbClr val="1A2033"/>
                </a:solidFill>
                <a:latin typeface="Malgun Gothic"/>
              </a:rPr>
              <a:t>scene_type / main_subject / usable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050" b="1">
                <a:solidFill>
                  <a:srgbClr val="1A2033"/>
                </a:solidFill>
                <a:latin typeface="Malgun Gothic"/>
              </a:rPr>
              <a:t>issues</a:t>
            </a:r>
            <a:r>
              <a:rPr sz="1050">
                <a:solidFill>
                  <a:srgbClr val="5B6372"/>
                </a:solidFill>
                <a:latin typeface="Malgun Gothic"/>
              </a:rPr>
              <a:t> (exposure·color_cast·contrast·sharpness·noise·haze)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050" b="1">
                <a:solidFill>
                  <a:srgbClr val="1A2033"/>
                </a:solidFill>
                <a:latin typeface="Malgun Gothic"/>
              </a:rPr>
              <a:t>correction_intents</a:t>
            </a:r>
            <a:r>
              <a:rPr sz="1050">
                <a:solidFill>
                  <a:srgbClr val="5B6372"/>
                </a:solidFill>
                <a:latin typeface="Malgun Gothic"/>
              </a:rPr>
              <a:t> (advisory 숫자)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050" b="1">
                <a:solidFill>
                  <a:srgbClr val="1A2033"/>
                </a:solidFill>
                <a:latin typeface="Malgun Gothic"/>
              </a:rPr>
              <a:t>confidence / risk_flags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79" y="3886200"/>
            <a:ext cx="3566160" cy="2286000"/>
          </a:xfrm>
          <a:prstGeom prst="roundRect">
            <a:avLst/>
          </a:prstGeom>
          <a:solidFill>
            <a:srgbClr val="0E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59" y="3977639"/>
            <a:ext cx="3200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DB4B4B"/>
                </a:solidFill>
                <a:latin typeface="Malgun Gothic"/>
              </a:rPr>
              <a:t>가드레일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59" y="43434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DB4B4B"/>
                </a:solidFill>
                <a:latin typeface="Malgun Gothic"/>
              </a:rPr>
              <a:t>● </a:t>
            </a:r>
            <a:r>
              <a:rPr sz="1100" b="1">
                <a:solidFill>
                  <a:srgbClr val="FFFFFF"/>
                </a:solidFill>
                <a:latin typeface="Malgun Gothic"/>
              </a:rPr>
              <a:t>금지 키 차단</a:t>
            </a:r>
            <a:r>
              <a:rPr sz="1100">
                <a:solidFill>
                  <a:srgbClr val="E6C9C9"/>
                </a:solidFill>
                <a:latin typeface="Malgun Gothic"/>
              </a:rPr>
              <a:t> lightroom_adjustments / develop_settings / preset_path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DB4B4B"/>
                </a:solidFill>
                <a:latin typeface="Malgun Gothic"/>
              </a:rPr>
              <a:t>● </a:t>
            </a:r>
            <a:r>
              <a:rPr sz="1100" b="1">
                <a:solidFill>
                  <a:srgbClr val="FFFFFF"/>
                </a:solidFill>
                <a:latin typeface="Malgun Gothic"/>
              </a:rPr>
              <a:t>모델은 분석자</a:t>
            </a:r>
            <a:r>
              <a:rPr sz="1100">
                <a:solidFill>
                  <a:srgbClr val="E6C9C9"/>
                </a:solidFill>
                <a:latin typeface="Malgun Gothic"/>
              </a:rPr>
              <a:t> 보정값·최종결정 직접 생성 불가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DB4B4B"/>
                </a:solidFill>
                <a:latin typeface="Malgun Gothic"/>
              </a:rPr>
              <a:t>● </a:t>
            </a:r>
            <a:r>
              <a:rPr sz="1100" b="1">
                <a:solidFill>
                  <a:srgbClr val="FFFFFF"/>
                </a:solidFill>
                <a:latin typeface="Malgun Gothic"/>
              </a:rPr>
              <a:t>입력은 로컬 프리뷰만</a:t>
            </a:r>
            <a:r>
              <a:rPr sz="1100">
                <a:solidFill>
                  <a:srgbClr val="E6C9C9"/>
                </a:solidFill>
                <a:latin typeface="Malgun Gothic"/>
              </a:rPr>
              <a:t> 외부 URL 차단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Tonevyra AI Agent · 보정 프로세스 상세 (실제 코드 기준)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E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63500"/>
          </a:xfrm>
          <a:prstGeom prst="rect">
            <a:avLst/>
          </a:prstGeom>
          <a:solidFill>
            <a:srgbClr val="7A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9728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B8AF"/>
                </a:solidFill>
                <a:latin typeface="Malgun Gothic"/>
              </a:rPr>
              <a:t>STAGE 3 · 백엔드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③-1 교체 가능한 Vision 백엔드 3종 — create_vision_backend()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611880" cy="338328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611880" cy="868680"/>
          </a:xfrm>
          <a:prstGeom prst="rect">
            <a:avLst/>
          </a:prstGeom>
          <a:solidFill>
            <a:srgbClr val="0FB8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389888"/>
            <a:ext cx="33375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MockVisionBackend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83080"/>
            <a:ext cx="33375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backend = "mock"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286000"/>
            <a:ext cx="328269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 b="1">
                <a:solidFill>
                  <a:srgbClr val="0FB8AF"/>
                </a:solidFill>
                <a:latin typeface="Malgun Gothic"/>
              </a:rPr>
              <a:t>● </a:t>
            </a:r>
            <a:r>
              <a:rPr sz="1100" b="1">
                <a:solidFill>
                  <a:srgbClr val="1A2033"/>
                </a:solidFill>
                <a:latin typeface="Malgun Gothic"/>
              </a:rPr>
              <a:t>용도</a:t>
            </a:r>
            <a:r>
              <a:rPr sz="1100">
                <a:solidFill>
                  <a:srgbClr val="5B6372"/>
                </a:solidFill>
                <a:latin typeface="Malgun Gothic"/>
              </a:rPr>
              <a:t> 픽스처 기반, 실제 모델 연결 전 파이프라인 검증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 b="1">
                <a:solidFill>
                  <a:srgbClr val="0FB8AF"/>
                </a:solidFill>
                <a:latin typeface="Malgun Gothic"/>
              </a:rPr>
              <a:t>● </a:t>
            </a:r>
            <a:r>
              <a:rPr sz="1100" b="1">
                <a:solidFill>
                  <a:srgbClr val="1A2033"/>
                </a:solidFill>
                <a:latin typeface="Malgun Gothic"/>
              </a:rPr>
              <a:t>동작</a:t>
            </a:r>
            <a:r>
              <a:rPr sz="1100">
                <a:solidFill>
                  <a:srgbClr val="5B6372"/>
                </a:solidFill>
                <a:latin typeface="Malgun Gothic"/>
              </a:rPr>
              <a:t> 고정 JSON 픽스처 로드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 b="1">
                <a:solidFill>
                  <a:srgbClr val="0FB8AF"/>
                </a:solidFill>
                <a:latin typeface="Malgun Gothic"/>
              </a:rPr>
              <a:t>● </a:t>
            </a:r>
            <a:r>
              <a:rPr sz="1100" b="1">
                <a:solidFill>
                  <a:srgbClr val="1A2033"/>
                </a:solidFill>
                <a:latin typeface="Malgun Gothic"/>
              </a:rPr>
              <a:t>원칙</a:t>
            </a:r>
            <a:r>
              <a:rPr sz="1100">
                <a:solidFill>
                  <a:srgbClr val="5B6372"/>
                </a:solidFill>
                <a:latin typeface="Malgun Gothic"/>
              </a:rPr>
              <a:t> Mock 통과가 실모델 연결의 선행 조건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3672" y="1280160"/>
            <a:ext cx="3611880" cy="338328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33672" y="1280160"/>
            <a:ext cx="3611880" cy="868680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1389888"/>
            <a:ext cx="33375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ModuleVisionBackend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8264" y="1783080"/>
            <a:ext cx="33375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backend = "module"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264" y="2286000"/>
            <a:ext cx="328269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100" b="1">
                <a:solidFill>
                  <a:srgbClr val="1A2033"/>
                </a:solidFill>
                <a:latin typeface="Malgun Gothic"/>
              </a:rPr>
              <a:t>용도</a:t>
            </a:r>
            <a:r>
              <a:rPr sz="1100">
                <a:solidFill>
                  <a:srgbClr val="5B6372"/>
                </a:solidFill>
                <a:latin typeface="Malgun Gothic"/>
              </a:rPr>
              <a:t> T-021 결정론적 로컬 분석(무모델)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100" b="1">
                <a:solidFill>
                  <a:srgbClr val="1A2033"/>
                </a:solidFill>
                <a:latin typeface="Malgun Gothic"/>
              </a:rPr>
              <a:t>동작</a:t>
            </a:r>
            <a:r>
              <a:rPr sz="1100">
                <a:solidFill>
                  <a:srgbClr val="5B6372"/>
                </a:solidFill>
                <a:latin typeface="Malgun Gothic"/>
              </a:rPr>
              <a:t> ModuleAnalysisProvider(cv2/numpy 통계)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100" b="1">
                <a:solidFill>
                  <a:srgbClr val="1A2033"/>
                </a:solidFill>
                <a:latin typeface="Malgun Gothic"/>
              </a:rPr>
              <a:t>특징</a:t>
            </a:r>
            <a:r>
              <a:rPr sz="1100">
                <a:solidFill>
                  <a:srgbClr val="5B6372"/>
                </a:solidFill>
                <a:latin typeface="Malgun Gothic"/>
              </a:rPr>
              <a:t> free/lite 플랜·재현성·GPU 불필요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280160"/>
            <a:ext cx="3611880" cy="338328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144" y="1280160"/>
            <a:ext cx="3611880" cy="868680"/>
          </a:xfrm>
          <a:prstGeom prst="rect">
            <a:avLst/>
          </a:prstGeom>
          <a:solidFill>
            <a:srgbClr val="E89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1389888"/>
            <a:ext cx="33375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QwenVisionBackend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1783080"/>
            <a:ext cx="33375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backend = "qwen / qwen3vl"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2286000"/>
            <a:ext cx="328269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 b="1">
                <a:solidFill>
                  <a:srgbClr val="E89610"/>
                </a:solidFill>
                <a:latin typeface="Malgun Gothic"/>
              </a:rPr>
              <a:t>● </a:t>
            </a:r>
            <a:r>
              <a:rPr sz="1100" b="1">
                <a:solidFill>
                  <a:srgbClr val="1A2033"/>
                </a:solidFill>
                <a:latin typeface="Malgun Gothic"/>
              </a:rPr>
              <a:t>용도</a:t>
            </a:r>
            <a:r>
              <a:rPr sz="1100">
                <a:solidFill>
                  <a:srgbClr val="5B6372"/>
                </a:solidFill>
                <a:latin typeface="Malgun Gothic"/>
              </a:rPr>
              <a:t> 로컬 비전-언어 모델 후보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 b="1">
                <a:solidFill>
                  <a:srgbClr val="E89610"/>
                </a:solidFill>
                <a:latin typeface="Malgun Gothic"/>
              </a:rPr>
              <a:t>● </a:t>
            </a:r>
            <a:r>
              <a:rPr sz="1100" b="1">
                <a:solidFill>
                  <a:srgbClr val="1A2033"/>
                </a:solidFill>
                <a:latin typeface="Malgun Gothic"/>
              </a:rPr>
              <a:t>동작</a:t>
            </a:r>
            <a:r>
              <a:rPr sz="1100">
                <a:solidFill>
                  <a:srgbClr val="5B6372"/>
                </a:solidFill>
                <a:latin typeface="Malgun Gothic"/>
              </a:rPr>
              <a:t> TransformersQwenRuntime 로컬 추론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 b="1">
                <a:solidFill>
                  <a:srgbClr val="E89610"/>
                </a:solidFill>
                <a:latin typeface="Malgun Gothic"/>
              </a:rPr>
              <a:t>● </a:t>
            </a:r>
            <a:r>
              <a:rPr sz="1100" b="1">
                <a:solidFill>
                  <a:srgbClr val="1A2033"/>
                </a:solidFill>
                <a:latin typeface="Malgun Gothic"/>
              </a:rPr>
              <a:t>보안</a:t>
            </a:r>
            <a:r>
              <a:rPr sz="1100">
                <a:solidFill>
                  <a:srgbClr val="5B6372"/>
                </a:solidFill>
                <a:latin typeface="Malgun Gothic"/>
              </a:rPr>
              <a:t> local_files_only · 오프라인 env · trust_remote_code=False · 경로/해시 검증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92040"/>
            <a:ext cx="11292840" cy="1325880"/>
          </a:xfrm>
          <a:prstGeom prst="roundRect">
            <a:avLst/>
          </a:prstGeom>
          <a:solidFill>
            <a:srgbClr val="0E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010912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B8AF"/>
                </a:solidFill>
                <a:latin typeface="Malgun Gothic"/>
              </a:rPr>
              <a:t>공통 계약 (모든 백엔드 동일)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37667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0FB8AF"/>
                </a:solidFill>
                <a:latin typeface="Malgun Gothic"/>
              </a:rPr>
              <a:t>● </a:t>
            </a:r>
            <a:r>
              <a:rPr sz="1200" b="1">
                <a:solidFill>
                  <a:srgbClr val="1A2033"/>
                </a:solidFill>
                <a:latin typeface="Malgun Gothic"/>
              </a:rPr>
              <a:t>analyze(preview_path, metadata, prompt) → raw dict</a:t>
            </a:r>
            <a:r>
              <a:rPr sz="1200">
                <a:solidFill>
                  <a:srgbClr val="5B6372"/>
                </a:solidFill>
                <a:latin typeface="Malgun Gothic"/>
              </a:rPr>
              <a:t> → 동일한 VisionAnalysisResult 스키마로 검증되어 다운스트림은 백엔드를 구분하지 않음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0FB8AF"/>
                </a:solidFill>
                <a:latin typeface="Malgun Gothic"/>
              </a:rPr>
              <a:t>● </a:t>
            </a:r>
            <a:r>
              <a:rPr sz="1200" b="1">
                <a:solidFill>
                  <a:srgbClr val="1A2033"/>
                </a:solidFill>
                <a:latin typeface="Malgun Gothic"/>
              </a:rPr>
              <a:t>어떤 백엔드도 Lightroom 값/최종결정을 만들지 않음 — 항상 Correction Planner를 통과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Tonevyra AI Agent · 보정 프로세스 상세 (실제 코드 기준)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E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63500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9728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B8AF"/>
                </a:solidFill>
                <a:latin typeface="Malgun Gothic"/>
              </a:rPr>
              <a:t>STAGE 3 · 무모델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③-2 ModuleAnalysisProvider — 실제 이미지 통계 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E1833"/>
                </a:solidFill>
                <a:latin typeface="Malgun Gothic"/>
              </a:rPr>
              <a:t>providers/module_analysis.py — OpenCV/NumPy 로 프리뷰의 통계를 측정하고 표준 라벨로 변환 (결정론적)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6035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50" b="1">
                <a:solidFill>
                  <a:srgbClr val="1A2033"/>
                </a:solidFill>
                <a:latin typeface="Malgun Gothic"/>
              </a:rPr>
              <a:t>노출</a:t>
            </a:r>
            <a:r>
              <a:rPr sz="1250">
                <a:solidFill>
                  <a:srgbClr val="5B6372"/>
                </a:solidFill>
                <a:latin typeface="Malgun Gothic"/>
              </a:rPr>
              <a:t> gray 평균 luma + 그림자/하이라이트 클리핑 비율 → over/under/normal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50" b="1">
                <a:solidFill>
                  <a:srgbClr val="1A2033"/>
                </a:solidFill>
                <a:latin typeface="Malgun Gothic"/>
              </a:rPr>
              <a:t>대비</a:t>
            </a:r>
            <a:r>
              <a:rPr sz="1250">
                <a:solidFill>
                  <a:srgbClr val="5B6372"/>
                </a:solidFill>
                <a:latin typeface="Malgun Gothic"/>
              </a:rPr>
              <a:t> luma p10~p90 spread → low/normal/high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50" b="1">
                <a:solidFill>
                  <a:srgbClr val="1A2033"/>
                </a:solidFill>
                <a:latin typeface="Malgun Gothic"/>
              </a:rPr>
              <a:t>색캐스트</a:t>
            </a:r>
            <a:r>
              <a:rPr sz="1250">
                <a:solidFill>
                  <a:srgbClr val="5B6372"/>
                </a:solidFill>
                <a:latin typeface="Malgun Gothic"/>
              </a:rPr>
              <a:t> R/G/B 채널 평균 비교 → warm/cool_blue/blue_green/green/neutral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50" b="1">
                <a:solidFill>
                  <a:srgbClr val="1A2033"/>
                </a:solidFill>
                <a:latin typeface="Malgun Gothic"/>
              </a:rPr>
              <a:t>선명도</a:t>
            </a:r>
            <a:r>
              <a:rPr sz="1250">
                <a:solidFill>
                  <a:srgbClr val="5B6372"/>
                </a:solidFill>
                <a:latin typeface="Malgun Gothic"/>
              </a:rPr>
              <a:t> Laplacian variance → soft/acceptable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50" b="1">
                <a:solidFill>
                  <a:srgbClr val="1A2033"/>
                </a:solidFill>
                <a:latin typeface="Malgun Gothic"/>
              </a:rPr>
              <a:t>노이즈</a:t>
            </a:r>
            <a:r>
              <a:rPr sz="1250">
                <a:solidFill>
                  <a:srgbClr val="5B6372"/>
                </a:solidFill>
                <a:latin typeface="Malgun Gothic"/>
              </a:rPr>
              <a:t> Gaussian blur 잔차 std → low/medium/high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50" b="1">
                <a:solidFill>
                  <a:srgbClr val="1A2033"/>
                </a:solidFill>
                <a:latin typeface="Malgun Gothic"/>
              </a:rPr>
              <a:t>채도</a:t>
            </a:r>
            <a:r>
              <a:rPr sz="1250">
                <a:solidFill>
                  <a:srgbClr val="5B6372"/>
                </a:solidFill>
                <a:latin typeface="Malgun Gothic"/>
              </a:rPr>
              <a:t> HSV S 평균 → low/normal/high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50" b="1">
                <a:solidFill>
                  <a:srgbClr val="1A2033"/>
                </a:solidFill>
                <a:latin typeface="Malgun Gothic"/>
              </a:rPr>
              <a:t>장면/리스크</a:t>
            </a:r>
            <a:r>
              <a:rPr sz="1250">
                <a:solidFill>
                  <a:srgbClr val="5B6372"/>
                </a:solidFill>
                <a:latin typeface="Malgun Gothic"/>
              </a:rPr>
              <a:t> 파일명·통계로 underwater_candidate 등 risk_flags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554480"/>
            <a:ext cx="4983480" cy="3291840"/>
          </a:xfrm>
          <a:prstGeom prst="rect">
            <a:avLst/>
          </a:prstGeom>
          <a:solidFill>
            <a:srgbClr val="F4F6FA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39712" y="1600200"/>
            <a:ext cx="483717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232A3B"/>
                </a:solidFill>
                <a:latin typeface="Consolas"/>
              </a:rPr>
              <a:t>gray = cvtColor(img, RGB2GRAY)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232A3B"/>
                </a:solidFill>
                <a:latin typeface="Consolas"/>
              </a:rPr>
              <a:t>luma_mean = gray.mean()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232A3B"/>
                </a:solidFill>
                <a:latin typeface="Consolas"/>
              </a:rPr>
              <a:t>p10,p90 = percentile(gray,[10,90])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232A3B"/>
                </a:solidFill>
                <a:latin typeface="Consolas"/>
              </a:rPr>
              <a:t>R,G,B   = img.reshape(-1,3).mean(0)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232A3B"/>
                </a:solidFill>
                <a:latin typeface="Consolas"/>
              </a:rPr>
              <a:t>sat     = hsv[:,:,1].mean()/255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232A3B"/>
                </a:solidFill>
                <a:latin typeface="Consolas"/>
              </a:rPr>
              <a:t>sharp   = Laplacian(gray).var()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232A3B"/>
                </a:solidFill>
                <a:latin typeface="Consolas"/>
              </a:rPr>
              <a:t>noise   = (gray - GaussianBlur).std()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232A3B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232A3B"/>
                </a:solidFill>
                <a:latin typeface="Consolas"/>
              </a:rPr>
              <a:t>→ AnalysisResult(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232A3B"/>
                </a:solidFill>
                <a:latin typeface="Consolas"/>
              </a:rPr>
              <a:t>    technical_findings, color_findings,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232A3B"/>
                </a:solidFill>
                <a:latin typeface="Consolas"/>
              </a:rPr>
              <a:t>    quality_risks, confidence=0.82)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232A3B"/>
                </a:solidFill>
                <a:latin typeface="Consolas"/>
              </a:rPr>
              <a:t>→ analysis_to_vision_payload(...)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4983480"/>
            <a:ext cx="4983480" cy="1234440"/>
          </a:xfrm>
          <a:prstGeom prst="roundRect">
            <a:avLst/>
          </a:prstGeom>
          <a:solidFill>
            <a:srgbClr val="EC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5074920"/>
            <a:ext cx="466344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2033"/>
                </a:solidFill>
                <a:latin typeface="Malgun Gothic"/>
              </a:rPr>
              <a:t>결과는 analysis_to_vision_payload()로 기존 Vision 스키마(issues/correction_intents)에 맞춰져,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2033"/>
                </a:solidFill>
                <a:latin typeface="Malgun Gothic"/>
              </a:rPr>
              <a:t>Mock·Qwen과 동일한 경로로 Planner에 전달됩니다.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Tonevyra AI Agent · 보정 프로세스 상세 (실제 코드 기준)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E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63500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9728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B8AF"/>
                </a:solidFill>
                <a:latin typeface="Malgun Gothic"/>
              </a:rPr>
              <a:t>STAGE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④ Correction Planner 내부 — 분석을 안전한 보정값으로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1833"/>
                </a:solidFill>
                <a:latin typeface="Malgun Gothic"/>
              </a:rPr>
              <a:t>correction/planner.py — issue 라벨을 수치 델타로 매핑 → 시나리오 보정 → 레시피 검증 → 범위 클램프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44752"/>
            <a:ext cx="7589520" cy="56692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44752"/>
            <a:ext cx="76200" cy="566928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81328"/>
            <a:ext cx="7315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1833"/>
                </a:solidFill>
                <a:latin typeface="Consolas"/>
              </a:rPr>
              <a:t>1 _map_analysis_to_adjustments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746504"/>
            <a:ext cx="7315200" cy="24688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9" b="0">
                <a:solidFill>
                  <a:srgbClr val="5B6372"/>
                </a:solidFill>
                <a:latin typeface="Malgun Gothic"/>
              </a:rPr>
              <a:t>exposure/contrast/color_cast→temp·tint·vibrance/haze→dehaze·clarity/sharpness/noise 매핑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75688"/>
            <a:ext cx="7589520" cy="56692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075688"/>
            <a:ext cx="76200" cy="566928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112264"/>
            <a:ext cx="7315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1833"/>
                </a:solidFill>
                <a:latin typeface="Consolas"/>
              </a:rPr>
              <a:t>2 모델 correction_intents 반영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377440"/>
            <a:ext cx="7315200" cy="24688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9" b="0">
                <a:solidFill>
                  <a:srgbClr val="5B6372"/>
                </a:solidFill>
                <a:latin typeface="Malgun Gothic"/>
              </a:rPr>
              <a:t>모델 advisory 숫자가 있으면 해당 키를 덮어씀 (여전히 이후 클램프 대상)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06624"/>
            <a:ext cx="7589520" cy="56692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706624"/>
            <a:ext cx="76200" cy="566928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743200"/>
            <a:ext cx="7315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1833"/>
                </a:solidFill>
                <a:latin typeface="Consolas"/>
              </a:rPr>
              <a:t>3 _apply_scene_quality_floor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008376"/>
            <a:ext cx="7315200" cy="24688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9" b="0">
                <a:solidFill>
                  <a:srgbClr val="5B6372"/>
                </a:solidFill>
                <a:latin typeface="Malgun Gothic"/>
              </a:rPr>
              <a:t>수중 회복 floor / 불·캠프파이어 레퍼런스 스타일 등 장면별 최소 보정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337560"/>
            <a:ext cx="7589520" cy="56692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337560"/>
            <a:ext cx="76200" cy="566928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374136"/>
            <a:ext cx="7315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1833"/>
                </a:solidFill>
                <a:latin typeface="Consolas"/>
              </a:rPr>
              <a:t>4 apply_underwater_recipe_calibration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3639312"/>
            <a:ext cx="7315200" cy="24688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9" b="0">
                <a:solidFill>
                  <a:srgbClr val="5B6372"/>
                </a:solidFill>
                <a:latin typeface="Malgun Gothic"/>
              </a:rPr>
              <a:t>80-point 수중 레퍼런스 레시피와 비교·허용오차 내 보정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968496"/>
            <a:ext cx="7589520" cy="56692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68496"/>
            <a:ext cx="76200" cy="566928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4005072"/>
            <a:ext cx="7315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1833"/>
                </a:solidFill>
                <a:latin typeface="Consolas"/>
              </a:rPr>
              <a:t>5 _clamp_adjustments(ADJUSTMENT_RANGES)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4270248"/>
            <a:ext cx="7315200" cy="24688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9" b="0">
                <a:solidFill>
                  <a:srgbClr val="5B6372"/>
                </a:solidFill>
                <a:latin typeface="Malgun Gothic"/>
              </a:rPr>
              <a:t>모든 값을 허용 범위로 제한 → 하나라도 잘리면 clamped=True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99432"/>
            <a:ext cx="7589520" cy="56692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599432"/>
            <a:ext cx="76200" cy="566928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4636008"/>
            <a:ext cx="7315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1833"/>
                </a:solidFill>
                <a:latin typeface="Consolas"/>
              </a:rPr>
              <a:t>6 requires_review 판정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4901184"/>
            <a:ext cx="7315200" cy="24688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9" b="0">
                <a:solidFill>
                  <a:srgbClr val="5B6372"/>
                </a:solidFill>
                <a:latin typeface="Malgun Gothic"/>
              </a:rPr>
              <a:t>usable=False · 저신뢰 · severe risk · clamped 중 하나면 리뷰 필요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1444752"/>
            <a:ext cx="3474720" cy="2286000"/>
          </a:xfrm>
          <a:prstGeom prst="roundRect">
            <a:avLst/>
          </a:prstGeom>
          <a:solidFill>
            <a:srgbClr val="0E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1536192"/>
            <a:ext cx="3108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B8AF"/>
                </a:solidFill>
                <a:latin typeface="Malgun Gothic"/>
              </a:rPr>
              <a:t>출력 CorrectionPlan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1901952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80" b="1">
                <a:solidFill>
                  <a:srgbClr val="0FB8AF"/>
                </a:solidFill>
                <a:latin typeface="Malgun Gothic"/>
              </a:rPr>
              <a:t>● </a:t>
            </a:r>
            <a:r>
              <a:rPr sz="1080" b="1">
                <a:solidFill>
                  <a:srgbClr val="FFFFFF"/>
                </a:solidFill>
                <a:latin typeface="Malgun Gothic"/>
              </a:rPr>
              <a:t>base_preset / style_target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80" b="1">
                <a:solidFill>
                  <a:srgbClr val="0FB8AF"/>
                </a:solidFill>
                <a:latin typeface="Malgun Gothic"/>
              </a:rPr>
              <a:t>● </a:t>
            </a:r>
            <a:r>
              <a:rPr sz="1080" b="1">
                <a:solidFill>
                  <a:srgbClr val="FFFFFF"/>
                </a:solidFill>
                <a:latin typeface="Malgun Gothic"/>
              </a:rPr>
              <a:t>adjustments_json</a:t>
            </a:r>
            <a:r>
              <a:rPr sz="1080">
                <a:solidFill>
                  <a:srgbClr val="C7D0E8"/>
                </a:solidFill>
                <a:latin typeface="Malgun Gothic"/>
              </a:rPr>
              <a:t> (클램프된 LR 값)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80" b="1">
                <a:solidFill>
                  <a:srgbClr val="0FB8AF"/>
                </a:solidFill>
                <a:latin typeface="Malgun Gothic"/>
              </a:rPr>
              <a:t>● </a:t>
            </a:r>
            <a:r>
              <a:rPr sz="1080" b="1">
                <a:solidFill>
                  <a:srgbClr val="FFFFFF"/>
                </a:solidFill>
                <a:latin typeface="Malgun Gothic"/>
              </a:rPr>
              <a:t>confidence · clamped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80" b="1">
                <a:solidFill>
                  <a:srgbClr val="0FB8AF"/>
                </a:solidFill>
                <a:latin typeface="Malgun Gothic"/>
              </a:rPr>
              <a:t>● </a:t>
            </a:r>
            <a:r>
              <a:rPr sz="1080" b="1">
                <a:solidFill>
                  <a:srgbClr val="FFFFFF"/>
                </a:solidFill>
                <a:latin typeface="Malgun Gothic"/>
              </a:rPr>
              <a:t>requires_review · reason_summary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75320" y="3858768"/>
            <a:ext cx="3474720" cy="2359152"/>
          </a:xfrm>
          <a:prstGeom prst="roundRect">
            <a:avLst/>
          </a:prstGeom>
          <a:solidFill>
            <a:srgbClr val="EC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3950208"/>
            <a:ext cx="3108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2E5BFF"/>
                </a:solidFill>
                <a:latin typeface="Malgun Gothic"/>
              </a:rPr>
              <a:t>핵심 원칙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4315968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100" b="1">
                <a:solidFill>
                  <a:srgbClr val="1A2033"/>
                </a:solidFill>
                <a:latin typeface="Malgun Gothic"/>
              </a:rPr>
              <a:t>최종 LR 보정값을 만드는</a:t>
            </a:r>
            <a:r>
              <a:rPr sz="1100">
                <a:solidFill>
                  <a:srgbClr val="5B6372"/>
                </a:solidFill>
                <a:latin typeface="Malgun Gothic"/>
              </a:rPr>
              <a:t> 유일한 컴포넌트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100" b="1">
                <a:solidFill>
                  <a:srgbClr val="1A2033"/>
                </a:solidFill>
                <a:latin typeface="Malgun Gothic"/>
              </a:rPr>
              <a:t>모델 숫자는 advisory</a:t>
            </a:r>
            <a:r>
              <a:rPr sz="1100">
                <a:solidFill>
                  <a:srgbClr val="5B6372"/>
                </a:solidFill>
                <a:latin typeface="Malgun Gothic"/>
              </a:rPr>
              <a:t> → 항상 검증·클램프 통과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100" b="1">
                <a:solidFill>
                  <a:srgbClr val="1A2033"/>
                </a:solidFill>
                <a:latin typeface="Malgun Gothic"/>
              </a:rPr>
              <a:t>결정론적</a:t>
            </a:r>
            <a:r>
              <a:rPr sz="1100">
                <a:solidFill>
                  <a:srgbClr val="5B6372"/>
                </a:solidFill>
                <a:latin typeface="Malgun Gothic"/>
              </a:rPr>
              <a:t> 동일 입력 → 동일 계획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Tonevyra AI Agent · 보정 프로세스 상세 (실제 코드 기준)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E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63500"/>
          </a:xfrm>
          <a:prstGeom prst="rect">
            <a:avLst/>
          </a:prstGeom>
          <a:solidFill>
            <a:srgbClr val="E89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9728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B8AF"/>
                </a:solidFill>
                <a:latin typeface="Malgun Gothic"/>
              </a:rPr>
              <a:t>STAGE 5–6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⑤ Apply(T-019) + ⑥ Export(T-020) — Lua 플러그인 파일 브리지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1833"/>
                </a:solidFill>
                <a:latin typeface="Malgun Gothic"/>
              </a:rPr>
              <a:t>lightroom/bridge.py ↔ TonevyraAI.lrplugin : runtime/bridge 디렉토리의 JSON 파일로만 통신 (Cloud API·UI클릭·카탈로그 직접편집 금지)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1517904" cy="82296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1426464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A2033"/>
                </a:solidFill>
                <a:latin typeface="Consolas"/>
              </a:rPr>
              <a:t>correction_plan.json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8528" y="1856232"/>
            <a:ext cx="146304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E89610"/>
                </a:solidFill>
                <a:latin typeface="Malgun Gothic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48256" y="1600200"/>
            <a:ext cx="1517904" cy="82296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93976" y="1600200"/>
            <a:ext cx="1426464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A2033"/>
                </a:solidFill>
                <a:latin typeface="Consolas"/>
              </a:rPr>
              <a:t>bridge/requests/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1856232"/>
            <a:ext cx="146304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E89610"/>
                </a:solidFill>
                <a:latin typeface="Malgun Gothic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9312" y="1600200"/>
            <a:ext cx="1517904" cy="822960"/>
          </a:xfrm>
          <a:prstGeom prst="roundRect">
            <a:avLst/>
          </a:prstGeom>
          <a:solidFill>
            <a:srgbClr val="E89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1600200"/>
            <a:ext cx="1426464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onsolas"/>
              </a:rPr>
              <a:t>Lua 플러그인 적용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856232"/>
            <a:ext cx="146304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E89610"/>
                </a:solidFill>
                <a:latin typeface="Malgun Gothic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30368" y="1600200"/>
            <a:ext cx="1517904" cy="82296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76088" y="1600200"/>
            <a:ext cx="1426464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A2033"/>
                </a:solidFill>
                <a:latin typeface="Consolas"/>
              </a:rPr>
              <a:t>bridge/responses/ (applied)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1696" y="1856232"/>
            <a:ext cx="146304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E89610"/>
                </a:solidFill>
                <a:latin typeface="Malgun Gothic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21424" y="1600200"/>
            <a:ext cx="1517904" cy="82296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67144" y="1600200"/>
            <a:ext cx="1426464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A2033"/>
                </a:solidFill>
                <a:latin typeface="Consolas"/>
              </a:rPr>
              <a:t>export_requests/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1856232"/>
            <a:ext cx="146304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E89610"/>
                </a:solidFill>
                <a:latin typeface="Malgun Gothic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1600200"/>
            <a:ext cx="1517904" cy="822960"/>
          </a:xfrm>
          <a:prstGeom prst="roundRect">
            <a:avLst/>
          </a:prstGeom>
          <a:solidFill>
            <a:srgbClr val="E89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1600200"/>
            <a:ext cx="1426464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onsolas"/>
              </a:rPr>
              <a:t>플러그인 내보내기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3808" y="1856232"/>
            <a:ext cx="146304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E89610"/>
                </a:solidFill>
                <a:latin typeface="Malgun Gothic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03536" y="1600200"/>
            <a:ext cx="1517904" cy="82296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49256" y="1600200"/>
            <a:ext cx="1426464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A2033"/>
                </a:solidFill>
                <a:latin typeface="Consolas"/>
              </a:rPr>
              <a:t>export_results/ (exported)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743200"/>
            <a:ext cx="5486400" cy="347472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2880360"/>
            <a:ext cx="2926080" cy="310896"/>
          </a:xfrm>
          <a:prstGeom prst="roundRect">
            <a:avLst/>
          </a:prstGeom>
          <a:solidFill>
            <a:srgbClr val="E89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880360"/>
            <a:ext cx="292608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⑤ Apply Adapter (T-019)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38328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150" b="1">
                <a:solidFill>
                  <a:srgbClr val="1A2033"/>
                </a:solidFill>
                <a:latin typeface="Malgun Gothic"/>
              </a:rPr>
              <a:t>write_request</a:t>
            </a:r>
            <a:r>
              <a:rPr sz="1150">
                <a:solidFill>
                  <a:srgbClr val="5B6372"/>
                </a:solidFill>
                <a:latin typeface="Malgun Gothic"/>
              </a:rPr>
              <a:t> 절대경로 source/target 으로 적용 요청 작성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150" b="1">
                <a:solidFill>
                  <a:srgbClr val="1A2033"/>
                </a:solidFill>
                <a:latin typeface="Malgun Gothic"/>
              </a:rPr>
              <a:t>플러그인</a:t>
            </a:r>
            <a:r>
              <a:rPr sz="1150">
                <a:solidFill>
                  <a:srgbClr val="5B6372"/>
                </a:solidFill>
                <a:latin typeface="Malgun Gothic"/>
              </a:rPr>
              <a:t> Develop 설정 적용 → 결과 JSON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150" b="1">
                <a:solidFill>
                  <a:srgbClr val="1A2033"/>
                </a:solidFill>
                <a:latin typeface="Malgun Gothic"/>
              </a:rPr>
              <a:t>ingest_response</a:t>
            </a:r>
            <a:r>
              <a:rPr sz="1150">
                <a:solidFill>
                  <a:srgbClr val="5B6372"/>
                </a:solidFill>
                <a:latin typeface="Malgun Gothic"/>
              </a:rPr>
              <a:t> status=applied 검증 후 다음 단계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150" b="1">
                <a:solidFill>
                  <a:srgbClr val="1A2033"/>
                </a:solidFill>
                <a:latin typeface="Malgun Gothic"/>
              </a:rPr>
              <a:t>실패</a:t>
            </a:r>
            <a:r>
              <a:rPr sz="1150">
                <a:solidFill>
                  <a:srgbClr val="5B6372"/>
                </a:solidFill>
                <a:latin typeface="Malgun Gothic"/>
              </a:rPr>
              <a:t> LIGHTROOM_REQUEST_FAILED / RESPONSE_TIMEOUT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150" b="1">
                <a:solidFill>
                  <a:srgbClr val="1A2033"/>
                </a:solidFill>
                <a:latin typeface="Malgun Gothic"/>
              </a:rPr>
              <a:t>경계</a:t>
            </a:r>
            <a:r>
              <a:rPr sz="1150">
                <a:solidFill>
                  <a:srgbClr val="5B6372"/>
                </a:solidFill>
                <a:latin typeface="Malgun Gothic"/>
              </a:rPr>
              <a:t> 플러그인은 분석·품질·재시도 판단 안 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2743200"/>
            <a:ext cx="5486400" cy="347472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46520" y="2880360"/>
            <a:ext cx="3108960" cy="310896"/>
          </a:xfrm>
          <a:prstGeom prst="roundRect">
            <a:avLst/>
          </a:prstGeom>
          <a:solidFill>
            <a:srgbClr val="E89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2880360"/>
            <a:ext cx="310896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⑥ Export Adapter (T-020)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38328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150" b="1">
                <a:solidFill>
                  <a:srgbClr val="1A2033"/>
                </a:solidFill>
                <a:latin typeface="Malgun Gothic"/>
              </a:rPr>
              <a:t>내보내기 프로필</a:t>
            </a:r>
            <a:r>
              <a:rPr sz="1150">
                <a:solidFill>
                  <a:srgbClr val="5B6372"/>
                </a:solidFill>
                <a:latin typeface="Malgun Gothic"/>
              </a:rPr>
              <a:t> JPEG q95 · sRGB · 리사이즈/원본덮어쓰기 없음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150" b="1">
                <a:solidFill>
                  <a:srgbClr val="1A2033"/>
                </a:solidFill>
                <a:latin typeface="Malgun Gothic"/>
              </a:rPr>
              <a:t>파일 검증</a:t>
            </a:r>
            <a:r>
              <a:rPr sz="1150">
                <a:solidFill>
                  <a:srgbClr val="5B6372"/>
                </a:solidFill>
                <a:latin typeface="Malgun Gothic"/>
              </a:rPr>
              <a:t> 출력 존재 · 크기&gt;0 · source≠export 경로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150" b="1">
                <a:solidFill>
                  <a:srgbClr val="1A2033"/>
                </a:solidFill>
                <a:latin typeface="Malgun Gothic"/>
              </a:rPr>
              <a:t>EXPORT_DONE</a:t>
            </a:r>
            <a:r>
              <a:rPr sz="1150">
                <a:solidFill>
                  <a:srgbClr val="5B6372"/>
                </a:solidFill>
                <a:latin typeface="Malgun Gothic"/>
              </a:rPr>
              <a:t> 결과+파일+체크섬+DB 등록 후에만 전이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150" b="1">
                <a:solidFill>
                  <a:srgbClr val="1A2033"/>
                </a:solidFill>
                <a:latin typeface="Malgun Gothic"/>
              </a:rPr>
              <a:t>실패</a:t>
            </a:r>
            <a:r>
              <a:rPr sz="1150">
                <a:solidFill>
                  <a:srgbClr val="5B6372"/>
                </a:solidFill>
                <a:latin typeface="Malgun Gothic"/>
              </a:rPr>
              <a:t> LIGHTROOM_EXPORT_FAILED / EXPORT_FILE_MISSING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150" b="1">
                <a:solidFill>
                  <a:srgbClr val="1A2033"/>
                </a:solidFill>
                <a:latin typeface="Malgun Gothic"/>
              </a:rPr>
              <a:t>원칙</a:t>
            </a:r>
            <a:r>
              <a:rPr sz="1150">
                <a:solidFill>
                  <a:srgbClr val="5B6372"/>
                </a:solidFill>
                <a:latin typeface="Malgun Gothic"/>
              </a:rPr>
              <a:t> status=exported JSON 만으로는 성공 아님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Tonevyra AI Agent · 보정 프로세스 상세 (실제 코드 기준)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E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6350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9728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B8AF"/>
                </a:solidFill>
                <a:latin typeface="Malgun Gothic"/>
              </a:rPr>
              <a:t>STAGE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⑦ Quality Gate 내부 — 6개 지표 가중 합산 → 판정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1833"/>
                </a:solidFill>
                <a:latin typeface="Malgun Gothic"/>
              </a:rPr>
              <a:t>quality/scoring.py 가 내보낸 이미지를 측정 → analyzer.py 가 판정·영속화·최종 상태 확정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703320" cy="713232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3500" cy="713232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27048"/>
            <a:ext cx="34747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1833"/>
                </a:solidFill>
                <a:latin typeface="Consolas"/>
              </a:rPr>
              <a:t>exposure_score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01368"/>
            <a:ext cx="3474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Malgun Gothic"/>
              </a:rPr>
              <a:t>평균 luma 편차 + 클리핑 패널티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463040"/>
            <a:ext cx="3703320" cy="713232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463040"/>
            <a:ext cx="63500" cy="713232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527048"/>
            <a:ext cx="34747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1833"/>
                </a:solidFill>
                <a:latin typeface="Consolas"/>
              </a:rPr>
              <a:t>color_score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801368"/>
            <a:ext cx="3474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Malgun Gothic"/>
              </a:rPr>
              <a:t>RGB 채널 spread (균형)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703320" cy="713232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63040"/>
            <a:ext cx="63500" cy="713232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527048"/>
            <a:ext cx="34747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1833"/>
                </a:solidFill>
                <a:latin typeface="Consolas"/>
              </a:rPr>
              <a:t>sharpness_score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801368"/>
            <a:ext cx="3474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Malgun Gothic"/>
              </a:rPr>
              <a:t>Laplacian variance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286000"/>
            <a:ext cx="3703320" cy="713232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286000"/>
            <a:ext cx="63500" cy="713232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350008"/>
            <a:ext cx="34747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1833"/>
                </a:solidFill>
                <a:latin typeface="Consolas"/>
              </a:rPr>
              <a:t>noise_score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624328"/>
            <a:ext cx="3474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Malgun Gothic"/>
              </a:rPr>
              <a:t>Gaussian 잔차 std (낮을수록 高점)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2286000"/>
            <a:ext cx="3703320" cy="713232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2286000"/>
            <a:ext cx="63500" cy="713232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2350008"/>
            <a:ext cx="34747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1833"/>
                </a:solidFill>
                <a:latin typeface="Consolas"/>
              </a:rPr>
              <a:t>saturation_score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624328"/>
            <a:ext cx="3474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Malgun Gothic"/>
              </a:rPr>
              <a:t>이상치 0.34 와의 거리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2286000"/>
            <a:ext cx="3703320" cy="713232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2286000"/>
            <a:ext cx="63500" cy="713232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2350008"/>
            <a:ext cx="34747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1833"/>
                </a:solidFill>
                <a:latin typeface="Consolas"/>
              </a:rPr>
              <a:t>underwater_cast_score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2624328"/>
            <a:ext cx="3474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Malgun Gothic"/>
              </a:rPr>
              <a:t>blue_green - red 캐스트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200400"/>
            <a:ext cx="6675120" cy="1371600"/>
          </a:xfrm>
          <a:prstGeom prst="roundRect">
            <a:avLst/>
          </a:prstGeom>
          <a:solidFill>
            <a:srgbClr val="0E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310128"/>
            <a:ext cx="63093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B8AF"/>
                </a:solidFill>
                <a:latin typeface="Consolas"/>
              </a:rPr>
              <a:t>overall_score = Σ(score × weight) / Σweight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703320"/>
            <a:ext cx="630936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PASS  ≥ 85      ·      REVIEW_REQUIRED  70~84      ·      FAILED &lt; 70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planner requires_review/clamped → PASS라도 REVIEW로 상향(_apply_review_cap)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69480" y="3200400"/>
            <a:ext cx="4480560" cy="1371600"/>
          </a:xfrm>
          <a:prstGeom prst="roundRect">
            <a:avLst/>
          </a:prstGeom>
          <a:solidFill>
            <a:srgbClr val="EC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52360" y="3291840"/>
            <a:ext cx="4114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E5BFF"/>
                </a:solidFill>
                <a:latin typeface="Malgun Gothic"/>
              </a:rPr>
              <a:t>failure_class (상태 추가 없이)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3639312"/>
            <a:ext cx="411480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A2033"/>
                </a:solidFill>
                <a:latin typeface="Malgun Gothic"/>
              </a:rPr>
              <a:t>red 채널 손실 + 강한 blue-green 잔류 →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A2033"/>
                </a:solidFill>
                <a:latin typeface="Malgun Gothic"/>
              </a:rPr>
              <a:t>SOURCE_LIMITED_UNDERWATER_RED_CHANNEL_LOSS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A2033"/>
                </a:solidFill>
                <a:latin typeface="Malgun Gothic"/>
              </a:rPr>
              <a:t>(원본 한계: 화이트밸런스로 복구 불가)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754880"/>
            <a:ext cx="11292840" cy="146304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89204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2EB872"/>
                </a:solidFill>
                <a:latin typeface="Malgun Gothic"/>
              </a:rPr>
              <a:t>● </a:t>
            </a:r>
            <a:r>
              <a:rPr sz="1200" b="1">
                <a:solidFill>
                  <a:srgbClr val="1A2033"/>
                </a:solidFill>
                <a:latin typeface="Malgun Gothic"/>
              </a:rPr>
              <a:t>결과 영속화</a:t>
            </a:r>
            <a:r>
              <a:rPr sz="1200">
                <a:solidFill>
                  <a:srgbClr val="5B6372"/>
                </a:solidFill>
                <a:latin typeface="Malgun Gothic"/>
              </a:rPr>
              <a:t> quality_detail.json + quality_results 테이블(6개 점수+overall+decision+reason)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2EB872"/>
                </a:solidFill>
                <a:latin typeface="Malgun Gothic"/>
              </a:rPr>
              <a:t>● </a:t>
            </a:r>
            <a:r>
              <a:rPr sz="1200" b="1">
                <a:solidFill>
                  <a:srgbClr val="1A2033"/>
                </a:solidFill>
                <a:latin typeface="Malgun Gothic"/>
              </a:rPr>
              <a:t>최종 처리</a:t>
            </a:r>
            <a:r>
              <a:rPr sz="1200">
                <a:solidFill>
                  <a:srgbClr val="5B6372"/>
                </a:solidFill>
                <a:latin typeface="Malgun Gothic"/>
              </a:rPr>
              <a:t> worker가 output/{pass|review_required|failed}/{task_id}.jpg 로 이동 + TASK_FINALIZED 이벤트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2EB872"/>
                </a:solidFill>
                <a:latin typeface="Malgun Gothic"/>
              </a:rPr>
              <a:t>● </a:t>
            </a:r>
            <a:r>
              <a:rPr sz="1200" b="1">
                <a:solidFill>
                  <a:srgbClr val="1A2033"/>
                </a:solidFill>
                <a:latin typeface="Malgun Gothic"/>
              </a:rPr>
              <a:t>경계</a:t>
            </a:r>
            <a:r>
              <a:rPr sz="1200">
                <a:solidFill>
                  <a:srgbClr val="5B6372"/>
                </a:solidFill>
                <a:latin typeface="Malgun Gothic"/>
              </a:rPr>
              <a:t> 품질 게이트는 보정값을 바꾸거나 LR에 재요청하지 않음 — 평가/판정만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Tonevyra AI Agent · 보정 프로세스 상세 (실제 코드 기준)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E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6350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9728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B8AF"/>
                </a:solidFill>
                <a:latin typeface="Malgun Gothic"/>
              </a:rPr>
              <a:t>CLOSED-LOOP · T-021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⟲ 닫힌 루프 — 상태머신 · 재시도 · 플랜 정책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11292840" cy="457200"/>
          </a:xfrm>
          <a:prstGeom prst="roundRect">
            <a:avLst/>
          </a:prstGeom>
          <a:solidFill>
            <a:srgbClr val="0E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9284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CREATED → ANALYZING → ADJUSTMENT_READY → LIGHTROOM_PROCESSING → EXPORTED → EVALUATING → APPROVED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11292840" cy="411480"/>
          </a:xfrm>
          <a:prstGeom prst="roundRect">
            <a:avLst/>
          </a:prstGeom>
          <a:solidFill>
            <a:srgbClr val="E89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1129284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재시도:  EVALUATING → RETRY_REQUIRED → ADJUSTMENT_READY → ... → EVALUATING   (플랜 한도 내)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23160"/>
            <a:ext cx="3639312" cy="228600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23160"/>
            <a:ext cx="3639312" cy="457200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96312"/>
            <a:ext cx="3364992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state_manager.py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017520"/>
            <a:ext cx="331012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100" b="1">
                <a:solidFill>
                  <a:srgbClr val="1A2033"/>
                </a:solidFill>
                <a:latin typeface="Malgun Gothic"/>
              </a:rPr>
              <a:t>LEGAL_TRANSITIONS</a:t>
            </a:r>
            <a:r>
              <a:rPr sz="1100">
                <a:solidFill>
                  <a:srgbClr val="5B6372"/>
                </a:solidFill>
                <a:latin typeface="Malgun Gothic"/>
              </a:rPr>
              <a:t> 합법 전이만 허용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100" b="1">
                <a:solidFill>
                  <a:srgbClr val="1A2033"/>
                </a:solidFill>
                <a:latin typeface="Malgun Gothic"/>
              </a:rPr>
              <a:t>단계 건너뛰기 차단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100" b="1">
                <a:solidFill>
                  <a:srgbClr val="1A2033"/>
                </a:solidFill>
                <a:latin typeface="Malgun Gothic"/>
              </a:rPr>
              <a:t>Terminal</a:t>
            </a:r>
            <a:r>
              <a:rPr sz="1100">
                <a:solidFill>
                  <a:srgbClr val="5B6372"/>
                </a:solidFill>
                <a:latin typeface="Malgun Gothic"/>
              </a:rPr>
              <a:t> APPROVED/SOURCE_LIMITED/TECHNICAL_FAILED/FINAL_FAILED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2423160"/>
            <a:ext cx="3639312" cy="228600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1104" y="2423160"/>
            <a:ext cx="3639312" cy="45720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8264" y="2496312"/>
            <a:ext cx="3364992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retry_controller.py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3017520"/>
            <a:ext cx="331012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2EB872"/>
                </a:solidFill>
                <a:latin typeface="Malgun Gothic"/>
              </a:rPr>
              <a:t>● </a:t>
            </a:r>
            <a:r>
              <a:rPr sz="1100" b="1">
                <a:solidFill>
                  <a:srgbClr val="1A2033"/>
                </a:solidFill>
                <a:latin typeface="Malgun Gothic"/>
              </a:rPr>
              <a:t>RETRY_REQUIRED 일 때만</a:t>
            </a:r>
            <a:r>
              <a:rPr sz="1100">
                <a:solidFill>
                  <a:srgbClr val="5B6372"/>
                </a:solidFill>
                <a:latin typeface="Malgun Gothic"/>
              </a:rPr>
              <a:t> 재시도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2EB872"/>
                </a:solidFill>
                <a:latin typeface="Malgun Gothic"/>
              </a:rPr>
              <a:t>● </a:t>
            </a:r>
            <a:r>
              <a:rPr sz="1100" b="1">
                <a:solidFill>
                  <a:srgbClr val="1A2033"/>
                </a:solidFill>
                <a:latin typeface="Malgun Gothic"/>
              </a:rPr>
              <a:t>예산 초과·개선기대 0·전략없음</a:t>
            </a:r>
            <a:r>
              <a:rPr sz="1100">
                <a:solidFill>
                  <a:srgbClr val="5B6372"/>
                </a:solidFill>
                <a:latin typeface="Malgun Gothic"/>
              </a:rPr>
              <a:t> → 중단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2EB872"/>
                </a:solidFill>
                <a:latin typeface="Malgun Gothic"/>
              </a:rPr>
              <a:t>● </a:t>
            </a:r>
            <a:r>
              <a:rPr sz="1100" b="1">
                <a:solidFill>
                  <a:srgbClr val="1A2033"/>
                </a:solidFill>
                <a:latin typeface="Malgun Gothic"/>
              </a:rPr>
              <a:t>동일 plan_delta 반복 차단</a:t>
            </a:r>
            <a:r>
              <a:rPr sz="1100">
                <a:solidFill>
                  <a:srgbClr val="5B6372"/>
                </a:solidFill>
                <a:latin typeface="Malgun Gothic"/>
              </a:rPr>
              <a:t> (해시 비교)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2423160"/>
            <a:ext cx="3639312" cy="228600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8" y="2423160"/>
            <a:ext cx="3639312" cy="457200"/>
          </a:xfrm>
          <a:prstGeom prst="rect">
            <a:avLst/>
          </a:prstGeom>
          <a:solidFill>
            <a:srgbClr val="7A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2496312"/>
            <a:ext cx="3364992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plan_policy.py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017520"/>
            <a:ext cx="331012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7A4BD8"/>
                </a:solidFill>
                <a:latin typeface="Malgun Gothic"/>
              </a:rPr>
              <a:t>● </a:t>
            </a:r>
            <a:r>
              <a:rPr sz="1100" b="1">
                <a:solidFill>
                  <a:srgbClr val="1A2033"/>
                </a:solidFill>
                <a:latin typeface="Malgun Gothic"/>
              </a:rPr>
              <a:t>free</a:t>
            </a:r>
            <a:r>
              <a:rPr sz="1100">
                <a:solidFill>
                  <a:srgbClr val="5B6372"/>
                </a:solidFill>
                <a:latin typeface="Malgun Gothic"/>
              </a:rPr>
              <a:t> module · retry 1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7A4BD8"/>
                </a:solidFill>
                <a:latin typeface="Malgun Gothic"/>
              </a:rPr>
              <a:t>● </a:t>
            </a:r>
            <a:r>
              <a:rPr sz="1100" b="1">
                <a:solidFill>
                  <a:srgbClr val="1A2033"/>
                </a:solidFill>
                <a:latin typeface="Malgun Gothic"/>
              </a:rPr>
              <a:t>lite / standard</a:t>
            </a:r>
            <a:r>
              <a:rPr sz="1100">
                <a:solidFill>
                  <a:srgbClr val="5B6372"/>
                </a:solidFill>
                <a:latin typeface="Malgun Gothic"/>
              </a:rPr>
              <a:t> module·2 / model·2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7A4BD8"/>
                </a:solidFill>
                <a:latin typeface="Malgun Gothic"/>
              </a:rPr>
              <a:t>● </a:t>
            </a:r>
            <a:r>
              <a:rPr sz="1100" b="1">
                <a:solidFill>
                  <a:srgbClr val="1A2033"/>
                </a:solidFill>
                <a:latin typeface="Malgun Gothic"/>
              </a:rPr>
              <a:t>pro / t021_mvp</a:t>
            </a:r>
            <a:r>
              <a:rPr sz="1100">
                <a:solidFill>
                  <a:srgbClr val="5B6372"/>
                </a:solidFill>
                <a:latin typeface="Malgun Gothic"/>
              </a:rPr>
              <a:t> model·3 / module·2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37760"/>
            <a:ext cx="11292840" cy="1280160"/>
          </a:xfrm>
          <a:prstGeom prst="roundRect">
            <a:avLst/>
          </a:prstGeom>
          <a:solidFill>
            <a:srgbClr val="0E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029200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B8AF"/>
                </a:solidFill>
                <a:latin typeface="Malgun Gothic"/>
              </a:rPr>
              <a:t>Attempt 정책 — 재시도마다 새 불변 시도(immutable attempt)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3949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0FB8AF"/>
                </a:solidFill>
                <a:latin typeface="Malgun Gothic"/>
              </a:rPr>
              <a:t>● </a:t>
            </a:r>
            <a:r>
              <a:rPr sz="1150" b="1">
                <a:solidFill>
                  <a:srgbClr val="FFFFFF"/>
                </a:solidFill>
                <a:latin typeface="Malgun Gothic"/>
              </a:rPr>
              <a:t>job_id 고정 · attempt_id 신규 · attempt_no 증가 · 요청ID 신규 · 이전 아티팩트 불변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0FB8AF"/>
                </a:solidFill>
                <a:latin typeface="Malgun Gothic"/>
              </a:rPr>
              <a:t>● </a:t>
            </a:r>
            <a:r>
              <a:rPr sz="1150" b="1">
                <a:solidFill>
                  <a:srgbClr val="FFFFFF"/>
                </a:solidFill>
                <a:latin typeface="Malgun Gothic"/>
              </a:rPr>
              <a:t>실패 분리</a:t>
            </a:r>
            <a:r>
              <a:rPr sz="1150">
                <a:solidFill>
                  <a:srgbClr val="C7D0E8"/>
                </a:solidFill>
                <a:latin typeface="Malgun Gothic"/>
              </a:rPr>
              <a:t> TECHNICAL_FAILED(기술) ↔ RETRY_REQUIRED(품질) ↔ SOURCE_LIMITED(원본한계) ↔ FINAL_FAILED(예산소진)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Tonevyra AI Agent · 보정 프로세스 상세 (실제 코드 기준)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E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63500"/>
          </a:xfrm>
          <a:prstGeom prst="rect">
            <a:avLst/>
          </a:prstGeom>
          <a:solidFill>
            <a:srgbClr val="7A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9728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B8AF"/>
                </a:solidFill>
                <a:latin typeface="Malgun Gothic"/>
              </a:rPr>
              <a:t>PROVIDER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Provider 계층 — 동일 스키마 뒤의 module /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0E1833"/>
                </a:solidFill>
                <a:latin typeface="Malgun Gothic"/>
              </a:rPr>
              <a:t>providers/ 는 분석·품질을 '교체 가능한 제공자'로 추상화. 같은 정규화 스키마를 반환하므로 Planner·Quality 로직은 제공자를 구분하지 않음.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86400" cy="100584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76200" cy="1005840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E5BFF"/>
                </a:solidFill>
                <a:latin typeface="Consolas"/>
              </a:rPr>
              <a:t>module_analysis.py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Malgun Gothic"/>
              </a:rPr>
              <a:t>결정론적 CV 통계 분석 (무모델)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486400" cy="100584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76200" cy="1005840"/>
          </a:xfrm>
          <a:prstGeom prst="rect">
            <a:avLst/>
          </a:prstGeom>
          <a:solidFill>
            <a:srgbClr val="7A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65960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7A4BD8"/>
                </a:solidFill>
                <a:latin typeface="Consolas"/>
              </a:rPr>
              <a:t>model_analysis.py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77440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Malgun Gothic"/>
              </a:rPr>
              <a:t>로컬 모델 분석 → output_normalizer 로 정규화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08960"/>
            <a:ext cx="5486400" cy="100584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108960"/>
            <a:ext cx="76200" cy="100584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46120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EB872"/>
                </a:solidFill>
                <a:latin typeface="Consolas"/>
              </a:rPr>
              <a:t>module_quality.py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Malgun Gothic"/>
              </a:rPr>
              <a:t>결정론적 품질 평가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108960"/>
            <a:ext cx="5486400" cy="100584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108960"/>
            <a:ext cx="76200" cy="1005840"/>
          </a:xfrm>
          <a:prstGeom prst="rect">
            <a:avLst/>
          </a:prstGeom>
          <a:solidFill>
            <a:srgbClr val="E89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246120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E89610"/>
                </a:solidFill>
                <a:latin typeface="Consolas"/>
              </a:rPr>
              <a:t>model_quality.py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657600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Malgun Gothic"/>
              </a:rPr>
              <a:t>로컬 모델 품질 평가 → 정규화·검증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80560"/>
            <a:ext cx="11292840" cy="1737360"/>
          </a:xfrm>
          <a:prstGeom prst="roundRect">
            <a:avLst/>
          </a:prstGeom>
          <a:solidFill>
            <a:srgbClr val="0E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572000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B8AF"/>
                </a:solidFill>
                <a:latin typeface="Malgun Gothic"/>
              </a:rPr>
              <a:t>model_runtime/output_normalizer.py — 모델 출력의 안전 정규화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93776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0FB8AF"/>
                </a:solidFill>
                <a:latin typeface="Malgun Gothic"/>
              </a:rPr>
              <a:t>● </a:t>
            </a:r>
            <a:r>
              <a:rPr sz="1200" b="1">
                <a:solidFill>
                  <a:srgbClr val="FFFFFF"/>
                </a:solidFill>
                <a:latin typeface="Malgun Gothic"/>
              </a:rPr>
              <a:t>금지 실행 필드 차단</a:t>
            </a:r>
            <a:r>
              <a:rPr sz="1200">
                <a:solidFill>
                  <a:srgbClr val="C7D0E8"/>
                </a:solidFill>
                <a:latin typeface="Malgun Gothic"/>
              </a:rPr>
              <a:t> lightroom_adjustments/develop_settings/preset_path/final_decision/force_state_transition → MODEL_OUTPUT_INVALID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0FB8AF"/>
                </a:solidFill>
                <a:latin typeface="Malgun Gothic"/>
              </a:rPr>
              <a:t>● </a:t>
            </a:r>
            <a:r>
              <a:rPr sz="1200" b="1">
                <a:solidFill>
                  <a:srgbClr val="FFFFFF"/>
                </a:solidFill>
                <a:latin typeface="Malgun Gothic"/>
              </a:rPr>
              <a:t>T-021 스키마로 강제 검증</a:t>
            </a:r>
            <a:r>
              <a:rPr sz="1200">
                <a:solidFill>
                  <a:srgbClr val="C7D0E8"/>
                </a:solidFill>
                <a:latin typeface="Malgun Gothic"/>
              </a:rPr>
              <a:t> (AnalysisResult / T021QualityResult)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0FB8AF"/>
                </a:solidFill>
                <a:latin typeface="Malgun Gothic"/>
              </a:rPr>
              <a:t>● </a:t>
            </a:r>
            <a:r>
              <a:rPr sz="1200" b="1">
                <a:solidFill>
                  <a:srgbClr val="FFFFFF"/>
                </a:solidFill>
                <a:latin typeface="Malgun Gothic"/>
              </a:rPr>
              <a:t>무결성 규칙</a:t>
            </a:r>
            <a:r>
              <a:rPr sz="1200">
                <a:solidFill>
                  <a:srgbClr val="C7D0E8"/>
                </a:solidFill>
                <a:latin typeface="Malgun Gothic"/>
              </a:rPr>
              <a:t> TECHNICAL_FAILED 품질 출력은 점수를 조작할 수 없음(scores 비어야 함)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Tonevyra AI Agent · 보정 프로세스 상세 (실제 코드 기준)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E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63500"/>
          </a:xfrm>
          <a:prstGeom prst="rect">
            <a:avLst/>
          </a:prstGeom>
          <a:solidFill>
            <a:srgbClr val="7A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9728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B8AF"/>
                </a:solidFill>
                <a:latin typeface="Malgun Gothic"/>
              </a:rPr>
              <a:t>EXTENSIONS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확장 모듈 — 의미영역(T-023) · 세트일관성(T-024) · 스타일(T-025)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639312" cy="329184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639312" cy="502920"/>
          </a:xfrm>
          <a:prstGeom prst="rect">
            <a:avLst/>
          </a:prstGeom>
          <a:solidFill>
            <a:srgbClr val="7A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336499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algun Gothic"/>
              </a:rPr>
              <a:t>Semantic (T-023)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920240"/>
            <a:ext cx="331012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 b="1">
                <a:solidFill>
                  <a:srgbClr val="7A4BD8"/>
                </a:solidFill>
                <a:latin typeface="Malgun Gothic"/>
              </a:rPr>
              <a:t>● </a:t>
            </a:r>
            <a:r>
              <a:rPr sz="1100" b="1">
                <a:solidFill>
                  <a:srgbClr val="1A2033"/>
                </a:solidFill>
                <a:latin typeface="Malgun Gothic"/>
              </a:rPr>
              <a:t>SemanticSubjectAnalyzer</a:t>
            </a:r>
            <a:r>
              <a:rPr sz="1100">
                <a:solidFill>
                  <a:srgbClr val="5B6372"/>
                </a:solidFill>
                <a:latin typeface="Malgun Gothic"/>
              </a:rPr>
              <a:t> 분석→영역 정규화(person/sky/background...)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 b="1">
                <a:solidFill>
                  <a:srgbClr val="7A4BD8"/>
                </a:solidFill>
                <a:latin typeface="Malgun Gothic"/>
              </a:rPr>
              <a:t>● </a:t>
            </a:r>
            <a:r>
              <a:rPr sz="1100" b="1">
                <a:solidFill>
                  <a:srgbClr val="1A2033"/>
                </a:solidFill>
                <a:latin typeface="Malgun Gothic"/>
              </a:rPr>
              <a:t>LocalAdjustmentPlanner</a:t>
            </a:r>
            <a:r>
              <a:rPr sz="1100">
                <a:solidFill>
                  <a:srgbClr val="5B6372"/>
                </a:solidFill>
                <a:latin typeface="Malgun Gothic"/>
              </a:rPr>
              <a:t> 마스크 가용성 확인 후 부분(local) 보정 계획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 b="1">
                <a:solidFill>
                  <a:srgbClr val="7A4BD8"/>
                </a:solidFill>
                <a:latin typeface="Malgun Gothic"/>
              </a:rPr>
              <a:t>● </a:t>
            </a:r>
            <a:r>
              <a:rPr sz="1100" b="1">
                <a:solidFill>
                  <a:srgbClr val="1A2033"/>
                </a:solidFill>
                <a:latin typeface="Malgun Gothic"/>
              </a:rPr>
              <a:t>경계</a:t>
            </a:r>
            <a:r>
              <a:rPr sz="1100">
                <a:solidFill>
                  <a:srgbClr val="5B6372"/>
                </a:solidFill>
                <a:latin typeface="Malgun Gothic"/>
              </a:rPr>
              <a:t> 분석 증거만 — 실행 필드 금지·범위 클램프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280160"/>
            <a:ext cx="3639312" cy="329184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61104" y="1280160"/>
            <a:ext cx="3639312" cy="502920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8264" y="1371600"/>
            <a:ext cx="336499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algun Gothic"/>
              </a:rPr>
              <a:t>Batch (T-024)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696" y="1920240"/>
            <a:ext cx="331012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100" b="1">
                <a:solidFill>
                  <a:srgbClr val="1A2033"/>
                </a:solidFill>
                <a:latin typeface="Malgun Gothic"/>
              </a:rPr>
              <a:t>PhotoSetConsistencyEngine</a:t>
            </a:r>
            <a:r>
              <a:rPr sz="1100">
                <a:solidFill>
                  <a:srgbClr val="5B6372"/>
                </a:solidFill>
                <a:latin typeface="Malgun Gothic"/>
              </a:rPr>
              <a:t> 촬영 그룹핑 + 아웃라이어 분리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100" b="1">
                <a:solidFill>
                  <a:srgbClr val="1A2033"/>
                </a:solidFill>
                <a:latin typeface="Malgun Gothic"/>
              </a:rPr>
              <a:t>대표 선택·baseline 추출</a:t>
            </a:r>
            <a:r>
              <a:rPr sz="1100">
                <a:solidFill>
                  <a:srgbClr val="5B6372"/>
                </a:solidFill>
                <a:latin typeface="Malgun Gothic"/>
              </a:rPr>
              <a:t> 중앙값 기준 일관성 점수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100" b="1">
                <a:solidFill>
                  <a:srgbClr val="1A2033"/>
                </a:solidFill>
                <a:latin typeface="Malgun Gothic"/>
              </a:rPr>
              <a:t>목적</a:t>
            </a:r>
            <a:r>
              <a:rPr sz="1100">
                <a:solidFill>
                  <a:srgbClr val="5B6372"/>
                </a:solidFill>
                <a:latin typeface="Malgun Gothic"/>
              </a:rPr>
              <a:t> 세트 내 톤/색 일관성 유지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280160"/>
            <a:ext cx="3639312" cy="329184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1280160"/>
            <a:ext cx="3639312" cy="50292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371600"/>
            <a:ext cx="336499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algun Gothic"/>
              </a:rPr>
              <a:t>Style (T-025)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920240"/>
            <a:ext cx="331012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 b="1">
                <a:solidFill>
                  <a:srgbClr val="2EB872"/>
                </a:solidFill>
                <a:latin typeface="Malgun Gothic"/>
              </a:rPr>
              <a:t>● </a:t>
            </a:r>
            <a:r>
              <a:rPr sz="1100" b="1">
                <a:solidFill>
                  <a:srgbClr val="1A2033"/>
                </a:solidFill>
                <a:latin typeface="Malgun Gothic"/>
              </a:rPr>
              <a:t>StyleProfile</a:t>
            </a:r>
            <a:r>
              <a:rPr sz="1100">
                <a:solidFill>
                  <a:srgbClr val="5B6372"/>
                </a:solidFill>
                <a:latin typeface="Malgun Gothic"/>
              </a:rPr>
              <a:t> 로컬 사용자 선호(버전·상태·opt-out)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 b="1">
                <a:solidFill>
                  <a:srgbClr val="2EB872"/>
                </a:solidFill>
                <a:latin typeface="Malgun Gothic"/>
              </a:rPr>
              <a:t>● </a:t>
            </a:r>
            <a:r>
              <a:rPr sz="1100" b="1">
                <a:solidFill>
                  <a:srgbClr val="1A2033"/>
                </a:solidFill>
                <a:latin typeface="Malgun Gothic"/>
              </a:rPr>
              <a:t>apply_style_profile_to_planner</a:t>
            </a:r>
            <a:r>
              <a:rPr sz="1100">
                <a:solidFill>
                  <a:srgbClr val="5B6372"/>
                </a:solidFill>
                <a:latin typeface="Malgun Gothic"/>
              </a:rPr>
              <a:t> 선호→bounded Planner intent 매핑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 b="1">
                <a:solidFill>
                  <a:srgbClr val="2EB872"/>
                </a:solidFill>
                <a:latin typeface="Malgun Gothic"/>
              </a:rPr>
              <a:t>● </a:t>
            </a:r>
            <a:r>
              <a:rPr sz="1100" b="1">
                <a:solidFill>
                  <a:srgbClr val="1A2033"/>
                </a:solidFill>
                <a:latin typeface="Malgun Gothic"/>
              </a:rPr>
              <a:t>경계</a:t>
            </a:r>
            <a:r>
              <a:rPr sz="1100">
                <a:solidFill>
                  <a:srgbClr val="5B6372"/>
                </a:solidFill>
                <a:latin typeface="Malgun Gothic"/>
              </a:rPr>
              <a:t> 실행 설정/자동 파인튜닝 금지·전부 로컬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800600"/>
            <a:ext cx="11292840" cy="1417320"/>
          </a:xfrm>
          <a:prstGeom prst="roundRect">
            <a:avLst/>
          </a:prstGeom>
          <a:solidFill>
            <a:srgbClr val="EC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919472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E1833"/>
                </a:solidFill>
                <a:latin typeface="Malgun Gothic"/>
              </a:rPr>
              <a:t>공통 패턴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285232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00" b="1">
                <a:solidFill>
                  <a:srgbClr val="1A2033"/>
                </a:solidFill>
                <a:latin typeface="Malgun Gothic"/>
              </a:rPr>
              <a:t>세 모듈 모두 '증거(분석/선호/일관성)'만 생산</a:t>
            </a:r>
            <a:r>
              <a:rPr sz="1200">
                <a:solidFill>
                  <a:srgbClr val="5B6372"/>
                </a:solidFill>
                <a:latin typeface="Malgun Gothic"/>
              </a:rPr>
              <a:t> → 실제 보정값은 여전히 Correction/Local Adjustment Planner가 범위 내에서 생성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00" b="1">
                <a:solidFill>
                  <a:srgbClr val="1A2033"/>
                </a:solidFill>
                <a:latin typeface="Malgun Gothic"/>
              </a:rPr>
              <a:t>forbidden key 검사로 실행 필드 유입 차단 · 전부 로컬 · 외부 전송 없음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Tonevyra AI Agent · 보정 프로세스 상세 (실제 코드 기준)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E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6350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9728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B8AF"/>
                </a:solidFill>
                <a:latin typeface="Malgun Gothic"/>
              </a:rPr>
              <a:t>LEARNING &amp; INFRA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학습/피드백 수집  +  지원 인프라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486400" cy="498348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2743200" cy="310896"/>
          </a:xfrm>
          <a:prstGeom prst="round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274320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learning/ (수집 전용)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00" b="1">
                <a:solidFill>
                  <a:srgbClr val="1A2033"/>
                </a:solidFill>
                <a:latin typeface="Malgun Gothic"/>
              </a:rPr>
              <a:t>feedback.py</a:t>
            </a:r>
            <a:r>
              <a:rPr sz="1200">
                <a:solidFill>
                  <a:srgbClr val="5B6372"/>
                </a:solidFill>
                <a:latin typeface="Malgun Gothic"/>
              </a:rPr>
              <a:t> user_action·rating·reason_tags 기록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00" b="1">
                <a:solidFill>
                  <a:srgbClr val="1A2033"/>
                </a:solidFill>
                <a:latin typeface="Malgun Gothic"/>
              </a:rPr>
              <a:t>manual edit delta</a:t>
            </a:r>
            <a:r>
              <a:rPr sz="1200">
                <a:solidFill>
                  <a:srgbClr val="5B6372"/>
                </a:solidFill>
                <a:latin typeface="Malgun Gothic"/>
              </a:rPr>
              <a:t> AI 적용값 vs 사용자 최종값 비교 캡처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00" b="1">
                <a:solidFill>
                  <a:srgbClr val="1A2033"/>
                </a:solidFill>
                <a:latin typeface="Malgun Gothic"/>
              </a:rPr>
              <a:t>dataset_builder.py</a:t>
            </a:r>
            <a:r>
              <a:rPr sz="1200">
                <a:solidFill>
                  <a:srgbClr val="5B6372"/>
                </a:solidFill>
                <a:latin typeface="Malgun Gothic"/>
              </a:rPr>
              <a:t> 로컬 학습 후보(learning_samples) 등록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00" b="1">
                <a:solidFill>
                  <a:srgbClr val="1A2033"/>
                </a:solidFill>
                <a:latin typeface="Malgun Gothic"/>
              </a:rPr>
              <a:t>recipe_calibration.py</a:t>
            </a:r>
            <a:r>
              <a:rPr sz="1200">
                <a:solidFill>
                  <a:srgbClr val="5B6372"/>
                </a:solidFill>
                <a:latin typeface="Malgun Gothic"/>
              </a:rPr>
              <a:t> 레퍼런스 레시피로 Planner 검증·가이드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00" b="1">
                <a:solidFill>
                  <a:srgbClr val="1A2033"/>
                </a:solidFill>
                <a:latin typeface="Malgun Gothic"/>
              </a:rPr>
              <a:t>style_profile.py</a:t>
            </a:r>
            <a:r>
              <a:rPr sz="1200">
                <a:solidFill>
                  <a:srgbClr val="5B6372"/>
                </a:solidFill>
                <a:latin typeface="Malgun Gothic"/>
              </a:rPr>
              <a:t> 사용자 스타일 선호(T-025)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00" b="1">
                <a:solidFill>
                  <a:srgbClr val="1A2033"/>
                </a:solidFill>
                <a:latin typeface="Malgun Gothic"/>
              </a:rPr>
              <a:t>reference_pair.py</a:t>
            </a:r>
            <a:r>
              <a:rPr sz="1200">
                <a:solidFill>
                  <a:srgbClr val="5B6372"/>
                </a:solidFill>
                <a:latin typeface="Malgun Gothic"/>
              </a:rPr>
              <a:t> 전문가 보정 전/후 쌍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00" b="1">
                <a:solidFill>
                  <a:srgbClr val="1A2033"/>
                </a:solidFill>
                <a:latin typeface="Malgun Gothic"/>
              </a:rPr>
              <a:t>원칙</a:t>
            </a:r>
            <a:r>
              <a:rPr sz="1200">
                <a:solidFill>
                  <a:srgbClr val="5B6372"/>
                </a:solidFill>
                <a:latin typeface="Malgun Gothic"/>
              </a:rPr>
              <a:t> 정상 처리 중 모델 학습 금지 · 외부 전송 금지 · 전부 로컬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486400" cy="498348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2743200" cy="310896"/>
          </a:xfrm>
          <a:prstGeom prst="round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274320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지원 인프라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74519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00" b="1">
                <a:solidFill>
                  <a:srgbClr val="1A2033"/>
                </a:solidFill>
                <a:latin typeface="Malgun Gothic"/>
              </a:rPr>
              <a:t>db/</a:t>
            </a:r>
            <a:r>
              <a:rPr sz="1200">
                <a:solidFill>
                  <a:srgbClr val="5B6372"/>
                </a:solidFill>
                <a:latin typeface="Malgun Gothic"/>
              </a:rPr>
              <a:t> image_tasks(상태 SoT) · task_events · stage_results · quality_results · *_artifacts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00" b="1">
                <a:solidFill>
                  <a:srgbClr val="1A2033"/>
                </a:solidFill>
                <a:latin typeface="Malgun Gothic"/>
              </a:rPr>
              <a:t>storage/</a:t>
            </a:r>
            <a:r>
              <a:rPr sz="1200">
                <a:solidFill>
                  <a:srgbClr val="5B6372"/>
                </a:solidFill>
                <a:latin typeface="Malgun Gothic"/>
              </a:rPr>
              <a:t> 원자적 쓰기→fsync→rename · SHA-256 · 버전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00" b="1">
                <a:solidFill>
                  <a:srgbClr val="1A2033"/>
                </a:solidFill>
                <a:latin typeface="Malgun Gothic"/>
              </a:rPr>
              <a:t>agent/recovery.py</a:t>
            </a:r>
            <a:r>
              <a:rPr sz="1200">
                <a:solidFill>
                  <a:srgbClr val="5B6372"/>
                </a:solidFill>
                <a:latin typeface="Malgun Gothic"/>
              </a:rPr>
              <a:t> 재시작 시 DB+아티팩트+파일 검증 후 안전 단계부터 재개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00" b="1">
                <a:solidFill>
                  <a:srgbClr val="1A2033"/>
                </a:solidFill>
                <a:latin typeface="Malgun Gothic"/>
              </a:rPr>
              <a:t>agent/loops.py</a:t>
            </a:r>
            <a:r>
              <a:rPr sz="1200">
                <a:solidFill>
                  <a:srgbClr val="5B6372"/>
                </a:solidFill>
                <a:latin typeface="Malgun Gothic"/>
              </a:rPr>
              <a:t> watch·processing·quality·recovery·feedback·model_benchmark 루프 정의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00" b="1">
                <a:solidFill>
                  <a:srgbClr val="1A2033"/>
                </a:solidFill>
                <a:latin typeface="Malgun Gothic"/>
              </a:rPr>
              <a:t>core/</a:t>
            </a:r>
            <a:r>
              <a:rPr sz="1200">
                <a:solidFill>
                  <a:srgbClr val="5B6372"/>
                </a:solidFill>
                <a:latin typeface="Malgun Gothic"/>
              </a:rPr>
              <a:t> config · enums(상태/스테이지/에러) · errors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200" b="1">
                <a:solidFill>
                  <a:srgbClr val="1A2033"/>
                </a:solidFill>
                <a:latin typeface="Malgun Gothic"/>
              </a:rPr>
              <a:t>원칙</a:t>
            </a:r>
            <a:r>
              <a:rPr sz="1200">
                <a:solidFill>
                  <a:srgbClr val="5B6372"/>
                </a:solidFill>
                <a:latin typeface="Malgun Gothic"/>
              </a:rPr>
              <a:t> 로그는 복구의 진실원천이 아님 · 이미지 바이너리 DB 저장 금지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Tonevyra AI Agent · 보정 프로세스 상세 (실제 코드 기준)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E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63500"/>
          </a:xfrm>
          <a:prstGeom prst="rect">
            <a:avLst/>
          </a:prstGeom>
          <a:solidFill>
            <a:srgbClr val="0FB8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9728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B8AF"/>
                </a:solidFill>
                <a:latin typeface="Malgun Gothic"/>
              </a:rPr>
              <a:t>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산출물(Artifact) 체인 — 단계가 남기는 증거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1833"/>
                </a:solidFill>
                <a:latin typeface="Malgun Gothic"/>
              </a:rPr>
              <a:t>각 단계는 runtime/artifacts/&lt;task&gt;/ 아래에 JSON/이미지를 남기고 task_artifacts 에 등록 — 복구·감사·학습의 근거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6949440" cy="38404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63500" cy="384048"/>
          </a:xfrm>
          <a:prstGeom prst="rect">
            <a:avLst/>
          </a:prstGeom>
          <a:solidFill>
            <a:srgbClr val="0FB8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49377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1833"/>
                </a:solidFill>
                <a:latin typeface="Consolas"/>
              </a:rPr>
              <a:t>exif.json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600200"/>
            <a:ext cx="18288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FB8AF"/>
                </a:solidFill>
                <a:latin typeface="Consolas"/>
              </a:rPr>
              <a:t>metadata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20824"/>
            <a:ext cx="6949440" cy="38404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020824"/>
            <a:ext cx="63500" cy="384048"/>
          </a:xfrm>
          <a:prstGeom prst="rect">
            <a:avLst/>
          </a:prstGeom>
          <a:solidFill>
            <a:srgbClr val="0FB8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20824"/>
            <a:ext cx="49377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1833"/>
                </a:solidFill>
                <a:latin typeface="Consolas"/>
              </a:rPr>
              <a:t>preview.jpg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020824"/>
            <a:ext cx="18288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FB8AF"/>
                </a:solidFill>
                <a:latin typeface="Consolas"/>
              </a:rPr>
              <a:t>preview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441448"/>
            <a:ext cx="6949440" cy="38404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441448"/>
            <a:ext cx="63500" cy="384048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41448"/>
            <a:ext cx="49377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1833"/>
                </a:solidFill>
                <a:latin typeface="Consolas"/>
              </a:rPr>
              <a:t>vision_prompt.txt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441448"/>
            <a:ext cx="18288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2E5BFF"/>
                </a:solidFill>
                <a:latin typeface="Consolas"/>
              </a:rPr>
              <a:t>vision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862072"/>
            <a:ext cx="6949440" cy="38404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862072"/>
            <a:ext cx="63500" cy="384048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62072"/>
            <a:ext cx="49377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1833"/>
                </a:solidFill>
                <a:latin typeface="Consolas"/>
              </a:rPr>
              <a:t>vision_raw_response.json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862072"/>
            <a:ext cx="18288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2E5BFF"/>
                </a:solidFill>
                <a:latin typeface="Consolas"/>
              </a:rPr>
              <a:t>vision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282696"/>
            <a:ext cx="6949440" cy="38404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282696"/>
            <a:ext cx="63500" cy="384048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282696"/>
            <a:ext cx="49377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1833"/>
                </a:solidFill>
                <a:latin typeface="Consolas"/>
              </a:rPr>
              <a:t>vision_structured.json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282696"/>
            <a:ext cx="18288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2E5BFF"/>
                </a:solidFill>
                <a:latin typeface="Consolas"/>
              </a:rPr>
              <a:t>vision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703320"/>
            <a:ext cx="6949440" cy="38404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703320"/>
            <a:ext cx="63500" cy="384048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703320"/>
            <a:ext cx="49377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1833"/>
                </a:solidFill>
                <a:latin typeface="Consolas"/>
              </a:rPr>
              <a:t>correction_plan.json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3703320"/>
            <a:ext cx="18288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2E5BFF"/>
                </a:solidFill>
                <a:latin typeface="Consolas"/>
              </a:rPr>
              <a:t>correction_plan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123944"/>
            <a:ext cx="6949440" cy="38404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123944"/>
            <a:ext cx="63500" cy="384048"/>
          </a:xfrm>
          <a:prstGeom prst="rect">
            <a:avLst/>
          </a:prstGeom>
          <a:solidFill>
            <a:srgbClr val="E89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123944"/>
            <a:ext cx="49377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1833"/>
                </a:solidFill>
                <a:latin typeface="Consolas"/>
              </a:rPr>
              <a:t>lightroom_request.json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4123944"/>
            <a:ext cx="18288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E89610"/>
                </a:solidFill>
                <a:latin typeface="Consolas"/>
              </a:rPr>
              <a:t>lightroom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544568"/>
            <a:ext cx="6949440" cy="38404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544568"/>
            <a:ext cx="63500" cy="384048"/>
          </a:xfrm>
          <a:prstGeom prst="rect">
            <a:avLst/>
          </a:prstGeom>
          <a:solidFill>
            <a:srgbClr val="E89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544568"/>
            <a:ext cx="49377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1833"/>
                </a:solidFill>
                <a:latin typeface="Consolas"/>
              </a:rPr>
              <a:t>lightroom_response.json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4544568"/>
            <a:ext cx="18288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E89610"/>
                </a:solidFill>
                <a:latin typeface="Consolas"/>
              </a:rPr>
              <a:t>lightroom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965192"/>
            <a:ext cx="6949440" cy="38404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4965192"/>
            <a:ext cx="63500" cy="384048"/>
          </a:xfrm>
          <a:prstGeom prst="rect">
            <a:avLst/>
          </a:prstGeom>
          <a:solidFill>
            <a:srgbClr val="E89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965192"/>
            <a:ext cx="49377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1833"/>
                </a:solidFill>
                <a:latin typeface="Consolas"/>
              </a:rPr>
              <a:t>lightroom_export_request/result.json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4965192"/>
            <a:ext cx="18288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E89610"/>
                </a:solidFill>
                <a:latin typeface="Consolas"/>
              </a:rPr>
              <a:t>export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385816"/>
            <a:ext cx="6949440" cy="38404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5385816"/>
            <a:ext cx="63500" cy="384048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385816"/>
            <a:ext cx="49377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1833"/>
                </a:solidFill>
                <a:latin typeface="Consolas"/>
              </a:rPr>
              <a:t>quality_detail.json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5385816"/>
            <a:ext cx="18288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2EB872"/>
                </a:solidFill>
                <a:latin typeface="Consolas"/>
              </a:rPr>
              <a:t>quality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5806440"/>
            <a:ext cx="6949440" cy="38404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" y="5806440"/>
            <a:ext cx="63500" cy="384048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5806440"/>
            <a:ext cx="49377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1833"/>
                </a:solidFill>
                <a:latin typeface="Consolas"/>
              </a:rPr>
              <a:t>최종 output/{decision}/{task_id}.jpg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5806440"/>
            <a:ext cx="18288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2EB872"/>
                </a:solidFill>
                <a:latin typeface="Consolas"/>
              </a:rPr>
              <a:t>finalize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72400" y="1600200"/>
            <a:ext cx="3977639" cy="4617720"/>
          </a:xfrm>
          <a:prstGeom prst="roundRect">
            <a:avLst/>
          </a:prstGeom>
          <a:solidFill>
            <a:srgbClr val="0E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55280" y="1737360"/>
            <a:ext cx="3611879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B8AF"/>
                </a:solidFill>
                <a:latin typeface="Malgun Gothic"/>
              </a:rPr>
              <a:t>커밋 순서 (AGENTS.md §16)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80" y="2194560"/>
            <a:ext cx="36118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50" b="1">
                <a:solidFill>
                  <a:srgbClr val="0FB8AF"/>
                </a:solidFill>
                <a:latin typeface="Malgun Gothic"/>
              </a:rPr>
              <a:t>● </a:t>
            </a:r>
            <a:r>
              <a:rPr sz="1150" b="1">
                <a:solidFill>
                  <a:srgbClr val="FFFFFF"/>
                </a:solidFill>
                <a:latin typeface="Malgun Gothic"/>
              </a:rPr>
              <a:t>1. 임시파일 쓰기 → fsync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50" b="1">
                <a:solidFill>
                  <a:srgbClr val="0FB8AF"/>
                </a:solidFill>
                <a:latin typeface="Malgun Gothic"/>
              </a:rPr>
              <a:t>● </a:t>
            </a:r>
            <a:r>
              <a:rPr sz="1150" b="1">
                <a:solidFill>
                  <a:srgbClr val="FFFFFF"/>
                </a:solidFill>
                <a:latin typeface="Malgun Gothic"/>
              </a:rPr>
              <a:t>2. 원자적 rename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50" b="1">
                <a:solidFill>
                  <a:srgbClr val="0FB8AF"/>
                </a:solidFill>
                <a:latin typeface="Malgun Gothic"/>
              </a:rPr>
              <a:t>● </a:t>
            </a:r>
            <a:r>
              <a:rPr sz="1150" b="1">
                <a:solidFill>
                  <a:srgbClr val="FFFFFF"/>
                </a:solidFill>
                <a:latin typeface="Malgun Gothic"/>
              </a:rPr>
              <a:t>3. SHA-256 · size 계산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50" b="1">
                <a:solidFill>
                  <a:srgbClr val="0FB8AF"/>
                </a:solidFill>
                <a:latin typeface="Malgun Gothic"/>
              </a:rPr>
              <a:t>● </a:t>
            </a:r>
            <a:r>
              <a:rPr sz="1150" b="1">
                <a:solidFill>
                  <a:srgbClr val="FFFFFF"/>
                </a:solidFill>
                <a:latin typeface="Malgun Gothic"/>
              </a:rPr>
              <a:t>4. DB 트랜잭션 시작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50" b="1">
                <a:solidFill>
                  <a:srgbClr val="0FB8AF"/>
                </a:solidFill>
                <a:latin typeface="Malgun Gothic"/>
              </a:rPr>
              <a:t>● </a:t>
            </a:r>
            <a:r>
              <a:rPr sz="1150" b="1">
                <a:solidFill>
                  <a:srgbClr val="FFFFFF"/>
                </a:solidFill>
                <a:latin typeface="Malgun Gothic"/>
              </a:rPr>
              <a:t>5. task_artifacts 등록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50" b="1">
                <a:solidFill>
                  <a:srgbClr val="0FB8AF"/>
                </a:solidFill>
                <a:latin typeface="Malgun Gothic"/>
              </a:rPr>
              <a:t>● </a:t>
            </a:r>
            <a:r>
              <a:rPr sz="1150" b="1">
                <a:solidFill>
                  <a:srgbClr val="FFFFFF"/>
                </a:solidFill>
                <a:latin typeface="Malgun Gothic"/>
              </a:rPr>
              <a:t>6. stage_results 기록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50" b="1">
                <a:solidFill>
                  <a:srgbClr val="0FB8AF"/>
                </a:solidFill>
                <a:latin typeface="Malgun Gothic"/>
              </a:rPr>
              <a:t>● </a:t>
            </a:r>
            <a:r>
              <a:rPr sz="1150" b="1">
                <a:solidFill>
                  <a:srgbClr val="FFFFFF"/>
                </a:solidFill>
                <a:latin typeface="Malgun Gothic"/>
              </a:rPr>
              <a:t>7. image_tasks 상태 갱신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50" b="1">
                <a:solidFill>
                  <a:srgbClr val="0FB8AF"/>
                </a:solidFill>
                <a:latin typeface="Malgun Gothic"/>
              </a:rPr>
              <a:t>● </a:t>
            </a:r>
            <a:r>
              <a:rPr sz="1150" b="1">
                <a:solidFill>
                  <a:srgbClr val="FFFFFF"/>
                </a:solidFill>
                <a:latin typeface="Malgun Gothic"/>
              </a:rPr>
              <a:t>8. task_events 기록 → commit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Tonevyra AI Agent · 보정 프로세스 상세 (실제 코드 기준)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E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63500"/>
          </a:xfrm>
          <a:prstGeom prst="rect">
            <a:avLst/>
          </a:prstGeom>
          <a:solidFill>
            <a:srgbClr val="0E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9728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B8AF"/>
                </a:solidFill>
                <a:latin typeface="Malgun Gothic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역할 경계 한눈에 — 분석·계획·실행·검증·제어의 분리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291840" cy="502920"/>
          </a:xfrm>
          <a:prstGeom prst="rect">
            <a:avLst/>
          </a:prstGeom>
          <a:solidFill>
            <a:srgbClr val="0E1833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31089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</a:rPr>
              <a:t>구성요소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40" y="1188720"/>
            <a:ext cx="4206240" cy="502920"/>
          </a:xfrm>
          <a:prstGeom prst="rect">
            <a:avLst/>
          </a:prstGeom>
          <a:solidFill>
            <a:srgbClr val="0E1833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58768" y="1188720"/>
            <a:ext cx="40233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</a:rPr>
              <a:t>핵심 역할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0" y="1188720"/>
            <a:ext cx="3794760" cy="502920"/>
          </a:xfrm>
          <a:prstGeom prst="rect">
            <a:avLst/>
          </a:prstGeom>
          <a:solidFill>
            <a:srgbClr val="0E1833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8" y="1188720"/>
            <a:ext cx="36118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</a:rPr>
              <a:t>절대 하지 않는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91640"/>
            <a:ext cx="3291840" cy="502920"/>
          </a:xfrm>
          <a:prstGeom prst="rect">
            <a:avLst/>
          </a:prstGeom>
          <a:solidFill>
            <a:srgbClr val="F2F5FB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691640"/>
            <a:ext cx="31089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1833"/>
                </a:solidFill>
                <a:latin typeface="Consolas"/>
              </a:rPr>
              <a:t>images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40" y="1691640"/>
            <a:ext cx="4206240" cy="502920"/>
          </a:xfrm>
          <a:prstGeom prst="rect">
            <a:avLst/>
          </a:prstGeom>
          <a:solidFill>
            <a:srgbClr val="F2F5FB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1691640"/>
            <a:ext cx="40233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033"/>
                </a:solidFill>
                <a:latin typeface="Malgun Gothic"/>
              </a:rPr>
              <a:t>EXIF·1024px 프리뷰 생성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0" y="1691640"/>
            <a:ext cx="3794760" cy="502920"/>
          </a:xfrm>
          <a:prstGeom prst="rect">
            <a:avLst/>
          </a:prstGeom>
          <a:solidFill>
            <a:srgbClr val="F2F5FB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5008" y="1691640"/>
            <a:ext cx="36118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B4B4B"/>
                </a:solidFill>
                <a:latin typeface="Malgun Gothic"/>
              </a:rPr>
              <a:t>원본을 모델에 직접 투입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94560"/>
            <a:ext cx="3291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194560"/>
            <a:ext cx="31089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1833"/>
                </a:solidFill>
                <a:latin typeface="Consolas"/>
              </a:rPr>
              <a:t>vision (analyzer+backend)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40" y="2194560"/>
            <a:ext cx="4206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58768" y="2194560"/>
            <a:ext cx="40233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033"/>
                </a:solidFill>
                <a:latin typeface="Malgun Gothic"/>
              </a:rPr>
              <a:t>이미지 분석·진단(분석자)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80" y="2194560"/>
            <a:ext cx="3794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5008" y="2194560"/>
            <a:ext cx="36118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B4B4B"/>
                </a:solidFill>
                <a:latin typeface="Malgun Gothic"/>
              </a:rPr>
              <a:t>보정값/최종결정 생성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697480"/>
            <a:ext cx="3291840" cy="502920"/>
          </a:xfrm>
          <a:prstGeom prst="rect">
            <a:avLst/>
          </a:prstGeom>
          <a:solidFill>
            <a:srgbClr val="F2F5FB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2697480"/>
            <a:ext cx="31089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1833"/>
                </a:solidFill>
                <a:latin typeface="Consolas"/>
              </a:rPr>
              <a:t>providers (module/model)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40" y="2697480"/>
            <a:ext cx="4206240" cy="502920"/>
          </a:xfrm>
          <a:prstGeom prst="rect">
            <a:avLst/>
          </a:prstGeom>
          <a:solidFill>
            <a:srgbClr val="F2F5FB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58768" y="2697480"/>
            <a:ext cx="40233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033"/>
                </a:solidFill>
                <a:latin typeface="Malgun Gothic"/>
              </a:rPr>
              <a:t>교체 가능한 분석·품질 증거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80" y="2697480"/>
            <a:ext cx="3794760" cy="502920"/>
          </a:xfrm>
          <a:prstGeom prst="rect">
            <a:avLst/>
          </a:prstGeom>
          <a:solidFill>
            <a:srgbClr val="F2F5FB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65008" y="2697480"/>
            <a:ext cx="36118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B4B4B"/>
                </a:solidFill>
                <a:latin typeface="Malgun Gothic"/>
              </a:rPr>
              <a:t>Planner·상태정책 우회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200400"/>
            <a:ext cx="3291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3200400"/>
            <a:ext cx="31089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1833"/>
                </a:solidFill>
                <a:latin typeface="Consolas"/>
              </a:rPr>
              <a:t>correction.planner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40" y="3200400"/>
            <a:ext cx="4206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58768" y="3200400"/>
            <a:ext cx="40233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033"/>
                </a:solidFill>
                <a:latin typeface="Malgun Gothic"/>
              </a:rPr>
              <a:t>클램프된 LR 보정값 생성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80" y="3200400"/>
            <a:ext cx="3794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65008" y="3200400"/>
            <a:ext cx="36118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B4B4B"/>
                </a:solidFill>
                <a:latin typeface="Malgun Gothic"/>
              </a:rPr>
              <a:t>모델 로드·LR 직접 적용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703320"/>
            <a:ext cx="3291840" cy="502920"/>
          </a:xfrm>
          <a:prstGeom prst="rect">
            <a:avLst/>
          </a:prstGeom>
          <a:solidFill>
            <a:srgbClr val="F2F5FB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3703320"/>
            <a:ext cx="31089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1833"/>
                </a:solidFill>
                <a:latin typeface="Consolas"/>
              </a:rPr>
              <a:t>lightroom plugin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49040" y="3703320"/>
            <a:ext cx="4206240" cy="502920"/>
          </a:xfrm>
          <a:prstGeom prst="rect">
            <a:avLst/>
          </a:prstGeom>
          <a:solidFill>
            <a:srgbClr val="F2F5FB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58768" y="3703320"/>
            <a:ext cx="40233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033"/>
                </a:solidFill>
                <a:latin typeface="Malgun Gothic"/>
              </a:rPr>
              <a:t>기술적 적용·내보내기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80" y="3703320"/>
            <a:ext cx="3794760" cy="502920"/>
          </a:xfrm>
          <a:prstGeom prst="rect">
            <a:avLst/>
          </a:prstGeom>
          <a:solidFill>
            <a:srgbClr val="F2F5FB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65008" y="3703320"/>
            <a:ext cx="36118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B4B4B"/>
                </a:solidFill>
                <a:latin typeface="Malgun Gothic"/>
              </a:rPr>
              <a:t>분석·품질·재시도 판단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206240"/>
            <a:ext cx="3291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4206240"/>
            <a:ext cx="31089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1833"/>
                </a:solidFill>
                <a:latin typeface="Consolas"/>
              </a:rPr>
              <a:t>quality (scoring+gate)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49040" y="4206240"/>
            <a:ext cx="4206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58768" y="4206240"/>
            <a:ext cx="40233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033"/>
                </a:solidFill>
                <a:latin typeface="Malgun Gothic"/>
              </a:rPr>
              <a:t>내보내기 평가·판정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55280" y="4206240"/>
            <a:ext cx="3794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65008" y="4206240"/>
            <a:ext cx="36118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B4B4B"/>
                </a:solidFill>
                <a:latin typeface="Malgun Gothic"/>
              </a:rPr>
              <a:t>보정값 변경·LR 재요청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709160"/>
            <a:ext cx="3291840" cy="502920"/>
          </a:xfrm>
          <a:prstGeom prst="rect">
            <a:avLst/>
          </a:prstGeom>
          <a:solidFill>
            <a:srgbClr val="F2F5FB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4709160"/>
            <a:ext cx="31089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1833"/>
                </a:solidFill>
                <a:latin typeface="Consolas"/>
              </a:rPr>
              <a:t>agent (state/retry)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49040" y="4709160"/>
            <a:ext cx="4206240" cy="502920"/>
          </a:xfrm>
          <a:prstGeom prst="rect">
            <a:avLst/>
          </a:prstGeom>
          <a:solidFill>
            <a:srgbClr val="F2F5FB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58768" y="4709160"/>
            <a:ext cx="40233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033"/>
                </a:solidFill>
                <a:latin typeface="Malgun Gothic"/>
              </a:rPr>
              <a:t>합법 전이·유한 재시도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55280" y="4709160"/>
            <a:ext cx="3794760" cy="502920"/>
          </a:xfrm>
          <a:prstGeom prst="rect">
            <a:avLst/>
          </a:prstGeom>
          <a:solidFill>
            <a:srgbClr val="F2F5FB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65008" y="4709160"/>
            <a:ext cx="36118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B4B4B"/>
                </a:solidFill>
                <a:latin typeface="Malgun Gothic"/>
              </a:rPr>
              <a:t>무한 루프·임의 상태강제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212080"/>
            <a:ext cx="3291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5212080"/>
            <a:ext cx="31089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1833"/>
                </a:solidFill>
                <a:latin typeface="Consolas"/>
              </a:rPr>
              <a:t>learning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749040" y="5212080"/>
            <a:ext cx="4206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58768" y="5212080"/>
            <a:ext cx="40233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033"/>
                </a:solidFill>
                <a:latin typeface="Malgun Gothic"/>
              </a:rPr>
              <a:t>로컬 학습데이터 수집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55280" y="5212080"/>
            <a:ext cx="3794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65008" y="5212080"/>
            <a:ext cx="36118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B4B4B"/>
                </a:solidFill>
                <a:latin typeface="Malgun Gothic"/>
              </a:rPr>
              <a:t>정상처리 중 학습·외부전송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0E1833"/>
                </a:solidFill>
                <a:latin typeface="Malgun Gothic"/>
              </a:rPr>
              <a:t>한 줄 요약: 모델/모듈은 '무엇이 문제인가'만 말하고, Planner가 '얼마나 고칠지'를 정하며, 플러그인은 '실행'만, 게이트는 '판정'만, 에이전트는 '제어'만 한다.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Tonevyra AI Agent · 보정 프로세스 상세 (실제 코드 기준)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Malgun Gothic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